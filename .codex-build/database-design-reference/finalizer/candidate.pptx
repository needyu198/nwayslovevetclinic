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777f7567004626" /><Relationship Type="http://schemas.openxmlformats.org/officeDocument/2006/relationships/extended-properties" Target="/docProps/app.xml" Id="R5a3a4c4d63e44b85" /><Relationship Type="http://schemas.openxmlformats.org/officeDocument/2006/relationships/officeDocument" Target="/ppt/presentation.xml" Id="R5aab45091bc04a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55d23cfb96407f"/>
  </p:sldMasterIdLst>
  <p:notesMasterIdLst>
    <p:notesMasterId xmlns:r="http://schemas.openxmlformats.org/officeDocument/2006/relationships" r:id="Rc57288838a8a446e"/>
  </p:notesMasterIdLst>
  <p:sldIdLst>
    <p:sldId xmlns:r="http://schemas.openxmlformats.org/officeDocument/2006/relationships" id="256" r:id="R0ddde094e43445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3189ba64224e00" /><Relationship Type="http://schemas.openxmlformats.org/officeDocument/2006/relationships/slideMaster" Target="/ppt/slideMasters/slideMaster1.xml" Id="Re655d23cfb96407f" /><Relationship Type="http://schemas.openxmlformats.org/officeDocument/2006/relationships/notesMaster" Target="/ppt/notesMasters/notesMaster1.xml" Id="Rc57288838a8a446e" /><Relationship Type="http://schemas.openxmlformats.org/officeDocument/2006/relationships/presProps" Target="/ppt/presProps.xml" Id="R72524f7d01f84f96" /><Relationship Type="http://schemas.openxmlformats.org/officeDocument/2006/relationships/tableStyles" Target="/ppt/tableStyles.xml" Id="Rde99b7b38cfc4ce2" /><Relationship Type="http://schemas.openxmlformats.org/officeDocument/2006/relationships/slide" Target="/ppt/slides/slide1.xml" Id="R0ddde094e43445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ebc849ce754e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venir Next"/>
        <a:ea typeface=""/>
        <a:cs typeface=""/>
      </a:majorFont>
      <a:minorFont>
        <a:latin typeface="Avenir Nex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b247876cd746d8" /><Relationship Type="http://schemas.openxmlformats.org/officeDocument/2006/relationships/notesMaster" Target="/ppt/notesMasters/notesMaster1.xml" Id="Rd32190e1fc3b44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database design centers on app_accounts. This table stores the user's identity, role and account status.</a:t>
            </a:r>
          </a:p>
          <a:p xmlns:a="http://schemas.openxmlformats.org/drawingml/2006/main">
            <a:r>
              <a:t>Each feature table stores owner_id, which lets the backend apply ownership and role checks before returning or changing data.</a:t>
            </a:r>
          </a:p>
          <a:p xmlns:a="http://schemas.openxmlformats.org/drawingml/2006/main">
            <a:r>
              <a:t>Pets, medical appointments, home visits, pet-care bookings and medical records remain separate so each workflow has a clear data source.</a:t>
            </a:r>
          </a:p>
          <a:p xmlns:a="http://schemas.openxmlformats.org/drawingml/2006/main">
            <a:r>
              <a:t>The feature tables use JSONB for feature-specific fields and a version number for update conflict control.</a:t>
            </a:r>
          </a:p>
          <a:p xmlns:a="http://schemas.openxmlformats.org/drawingml/2006/main">
            <a:r>
              <a:t>The diagram shows logical application relationships. The current schema does not declare PostgreSQL foreign-key constraints for owner_id.</a:t>
            </a:r>
          </a:p>
          <a:p xmlns:a="http://schemas.openxmlformats.org/drawingml/2006/main">
            <a:r>
              <a:t>Sources: /Users/apple/NwaysLoveVetClinic/backend/src/schema.js; /Users/apple/NwaysLoveVetClinic/backend/src/resources.js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25681670d24e5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30df115ab240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f05a71b89a444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b70e45271c488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9a3ca4b9ba42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ff7f00e82d49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071558-632E-4532-99AA-EC90149CDB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6DD8E3E-0220-4300-9DCD-75EA2634416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4E3A5C0-6255-4F59-BF5F-403125C713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E006D7-5262-4B89-A150-93938325CE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2B78E2F-1455-4470-AB44-E99C6CA395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EE32145-960E-401F-ABF5-15EF63F77D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642071-99D8-4542-9F40-43C185BF3E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72E61C8-2C42-448F-A1F1-B849EB2C85D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222775-2C6E-4EB7-897C-84A2FA3C0B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D1CAC6-0594-430B-93B3-346788AA11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f02c0d1c8942cf" /><Relationship Type="http://schemas.openxmlformats.org/officeDocument/2006/relationships/slideLayout" Target="/ppt/slideLayouts/slideLayout1.xml" Id="R2fc8bf90de7a43c0" /><Relationship Type="http://schemas.openxmlformats.org/officeDocument/2006/relationships/slideLayout" Target="/ppt/slideLayouts/slideLayout2.xml" Id="R978c0d72c7ca43b3" /><Relationship Type="http://schemas.openxmlformats.org/officeDocument/2006/relationships/slideLayout" Target="/ppt/slideLayouts/slideLayout3.xml" Id="Re09b347f39f14bab" /><Relationship Type="http://schemas.openxmlformats.org/officeDocument/2006/relationships/slideLayout" Target="/ppt/slideLayouts/slideLayout4.xml" Id="R1d6d873251fb46fc" /><Relationship Type="http://schemas.openxmlformats.org/officeDocument/2006/relationships/slideLayout" Target="/ppt/slideLayouts/slideLayout5.xml" Id="R55c2cff0f16747c1" /><Relationship Type="http://schemas.openxmlformats.org/officeDocument/2006/relationships/slideLayout" Target="/ppt/slideLayouts/slideLayout6.xml" Id="Ra25978b6261947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c8bf90de7a43c0"/>
    <p:sldLayoutId xmlns:r="http://schemas.openxmlformats.org/officeDocument/2006/relationships" id="2147483650" r:id="R978c0d72c7ca43b3"/>
    <p:sldLayoutId xmlns:r="http://schemas.openxmlformats.org/officeDocument/2006/relationships" id="2147483651" r:id="Re09b347f39f14bab"/>
    <p:sldLayoutId xmlns:r="http://schemas.openxmlformats.org/officeDocument/2006/relationships" id="2147483652" r:id="R1d6d873251fb46fc"/>
    <p:sldLayoutId xmlns:r="http://schemas.openxmlformats.org/officeDocument/2006/relationships" id="2147483653" r:id="R55c2cff0f16747c1"/>
    <p:sldLayoutId xmlns:r="http://schemas.openxmlformats.org/officeDocument/2006/relationships" id="2147483654" r:id="Ra25978b6261947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venir Next"/>
        <a:ea typeface=""/>
        <a:cs typeface=""/>
      </a:majorFont>
      <a:minorFont>
        <a:latin typeface="Avenir Nex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a49c7a3f7e4cbc" /><Relationship Type="http://schemas.openxmlformats.org/officeDocument/2006/relationships/notesSlide" Target="/ppt/notesSlides/notesSlide1.xml" Id="Rf75e061e19c645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1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05C743C-CD7B-4274-8EC3-A4944174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2C6CB5"/>
                </a:solidFill>
                <a:latin typeface="Avenir Next"/>
                <a:ea typeface="Avenir Next"/>
                <a:cs typeface="Avenir Next"/>
              </a:rPr>
              <a:t>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45C6B-5A55-4086-AA91-3A6147C0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30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33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Everything connects</a:t>
            </a:r>
          </a:p>
          <a:p xmlns:a="http://schemas.openxmlformats.org/drawingml/2006/main">
            <a:pPr algn="l">
              <a:defRPr sz="330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33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to the account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276AA-D53C-48F9-8B85-BDD47A08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385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app_accounts: </a:t>
            </a:r>
            <a:r>
              <a:rPr sz="160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login identity, role and account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F8AD4-5790-4573-A68E-F728D753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385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pets: </a:t>
            </a:r>
            <a:r>
              <a:rPr sz="160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owner-linked pet profiles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9210D-3051-4189-80E6-E0FA985A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385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appointments: </a:t>
            </a:r>
            <a:r>
              <a:rPr sz="160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medical-service bookings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5CD88-B67A-428B-92C2-178F02C7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385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home_visits: </a:t>
            </a:r>
            <a:r>
              <a:rPr sz="160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care requested at the owner's address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BFE46-10F7-4B80-B578-A83FE4D5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385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pet_care_bookings: </a:t>
            </a:r>
            <a:r>
              <a:rPr sz="160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grooming, bathing, nail trimming and boarding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6E7EF-1E42-4E1A-9EBB-09994618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385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medical_records: </a:t>
            </a:r>
            <a:r>
              <a:rPr sz="160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treatment history maintained by clinic roles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64C85-82E6-4D35-B6B0-1E5325FF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0">
                <a:solidFill>
                  <a:srgbClr val="61728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1728D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1728D"/>
                </a:solidFill>
                <a:latin typeface="Avenir Next"/>
                <a:ea typeface="Avenir Next"/>
                <a:cs typeface="Avenir Next"/>
              </a:rPr>
              <a:t>Nway's Love Vet Clinic  ·  Database 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80F04-8C70-4CAB-A9BA-21B221B5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52450"/>
            <a:ext cx="6572250" cy="575310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E46970-8CE2-4B45-8F42-A0E03A78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7429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25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2C6CB5"/>
                </a:solidFill>
                <a:latin typeface="Avenir Next"/>
                <a:ea typeface="Avenir Next"/>
                <a:cs typeface="Avenir Next"/>
              </a:rPr>
              <a:t>LOGICAL DATA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BE85D-10A6-4B86-821D-8ADF29BC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42950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750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Ownership relationships use owner_id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AABDA6-7A78-4197-A0BC-B7F3BA10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951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FE0077-4FEA-48F9-B71C-35F4EBA4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5240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951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0B511D-A127-409B-843E-EA75CB74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5240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951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CFDAF2-E986-4A4F-B7E0-D64A617B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524000"/>
            <a:ext cx="176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951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5BFA37-09F7-40CF-9806-9020CA7E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861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951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AFF92-2729-4CE4-9AA3-EEB9331E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86100"/>
            <a:ext cx="176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951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9F8645-E5D2-43DE-8283-AE6DD9E1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9100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951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565481-DE56-41B0-B01E-6405944F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67250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951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449853-BDD4-434D-A0FE-811EB6A6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200150"/>
            <a:ext cx="19526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951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440548-275B-4277-AB6B-AAEEF804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200150"/>
            <a:ext cx="1952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6"/>
          </a:solidFill>
          <a:ln xmlns:a="http://schemas.openxmlformats.org/drawingml/2006/main" w="14288">
            <a:solidFill>
              <a:srgbClr val="4951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1E903E-6263-470F-93ED-5BDEE748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21920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00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app_accounts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38DD8F-C255-4C17-8D34-D0B4CAB3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485900"/>
            <a:ext cx="209550" cy="343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488E9C-C978-49A1-A831-8138D411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485900"/>
            <a:ext cx="1073944" cy="343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76AC81-829B-4C9A-A618-45339FEA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041" y="1485900"/>
            <a:ext cx="449104" cy="343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1CDA8C-1F97-454B-B73D-EC491543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29858"/>
            <a:ext cx="1073944" cy="343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username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1A48D2-9F26-487E-8851-AB3A4EB9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041" y="1829858"/>
            <a:ext cx="449104" cy="343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37300D-2A5F-4476-B674-DA555D21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73817"/>
            <a:ext cx="1073944" cy="343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email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007A10-5CF2-4A0B-A74B-4D480459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041" y="2173817"/>
            <a:ext cx="449104" cy="343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462480-AFCA-40C3-AB52-9737A913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17775"/>
            <a:ext cx="1073944" cy="343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phone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908BBA-76B5-4AE5-906F-0221EE3A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041" y="2517775"/>
            <a:ext cx="449104" cy="343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F3F2F5-B9E6-4DCB-94C1-24A6530F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61733"/>
            <a:ext cx="1073944" cy="343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password_hash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B7AE01-8DAF-4B8D-B2CD-280B4847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041" y="2861733"/>
            <a:ext cx="449104" cy="343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B3EA3F-711B-4E84-9DBA-65C37EAE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05692"/>
            <a:ext cx="1073944" cy="343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full_name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E8938F-12B9-4A04-9039-15B5F8EE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041" y="3205692"/>
            <a:ext cx="449104" cy="343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1C7621-4FB8-426D-AB31-94F3BAA0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49650"/>
            <a:ext cx="1073944" cy="343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role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4CD179-E756-49E7-9814-23FA22C6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041" y="3549650"/>
            <a:ext cx="449104" cy="343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29C819-7620-43D5-BA06-14D6958D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893608"/>
            <a:ext cx="1073944" cy="343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active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05AEE3-DEF3-418E-9062-8EFD5D32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041" y="3893608"/>
            <a:ext cx="449104" cy="343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boolean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A9E2C8-B7A4-46C2-A51D-ED549BD2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37567"/>
            <a:ext cx="1073944" cy="343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created_at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625856-1F72-4CFA-BBCD-9CB1B1F2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041" y="4237567"/>
            <a:ext cx="449104" cy="343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timestamptz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05F4B5-4F76-4DDA-B8F1-CA296AEC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066800"/>
            <a:ext cx="1381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9515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1675C3-A0FA-4F95-B4BB-3E420B9C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066800"/>
            <a:ext cx="1381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A"/>
          </a:solidFill>
          <a:ln xmlns:a="http://schemas.openxmlformats.org/drawingml/2006/main" w="11430">
            <a:solidFill>
              <a:srgbClr val="49515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2F9F073-30C8-4579-9CBB-55AA9A9C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858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825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pets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8F3864-6837-4A8B-BCBB-C96082F5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3525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877038-8C39-44A8-A94B-CF863835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52550"/>
            <a:ext cx="75961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A7846F-3018-495D-921F-EBA9D0F7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846" y="1352550"/>
            <a:ext cx="31765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3EBC2AF-636F-432C-840D-B1CBE01C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5621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FK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908311A-993C-4B52-8CBE-3BF05BED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62100"/>
            <a:ext cx="75961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5B4BB1E-2934-469E-B3DE-B4BBB23E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846" y="1562100"/>
            <a:ext cx="31765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0A15925-BD97-4E46-992D-C6E6A691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71650"/>
            <a:ext cx="75961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0A30193-C62F-45FF-82FD-E9832295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846" y="1771650"/>
            <a:ext cx="31765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63C19C-2B37-49B1-BBAF-A9973A5C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75961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19580C1-D145-4167-A15A-D6AEFE66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846" y="1981200"/>
            <a:ext cx="31765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9A2CBA3-BC78-4467-98A8-AC3A86A9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75961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updated_at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0583FA3-7354-4C3B-8FBE-EFA03096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846" y="2190750"/>
            <a:ext cx="31765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timestamptz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2C21D49-134D-4B66-919F-9774FD58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066800"/>
            <a:ext cx="16668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9515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E38427E-9513-4083-A4C3-6BF6ED5E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066800"/>
            <a:ext cx="1666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A"/>
          </a:solidFill>
          <a:ln xmlns:a="http://schemas.openxmlformats.org/drawingml/2006/main" w="11430">
            <a:solidFill>
              <a:srgbClr val="49515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211B2DC-9AD4-41CA-BF6E-FC41FED0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085850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825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appointments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6EFEF3E-2504-4F31-836A-AC5F02B3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3525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0844958-6ED6-488F-9F8E-9099C223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352550"/>
            <a:ext cx="91678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B8A5152-06CA-464A-AD6C-07194337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1352550"/>
            <a:ext cx="38338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D72BB05-C6AB-413A-BFE1-BC544136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5621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FK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3C250B2-7972-4F2E-91BF-7175B3C1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62100"/>
            <a:ext cx="91678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8364B49-FC5D-49CF-949A-11F961A7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1562100"/>
            <a:ext cx="38338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0DBC5BF-5BE2-4EA9-8C0E-B5D19496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771650"/>
            <a:ext cx="91678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215B6CC-B7AD-4B81-9AB3-FB2B1585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1771650"/>
            <a:ext cx="38338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3F4893F-B4C1-45AE-A50B-295EFD3D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981200"/>
            <a:ext cx="91678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11E5C5F-F40A-48B3-AC2C-98AC55F4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1981200"/>
            <a:ext cx="38338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E537803-0082-47F0-9D53-0CC0B99A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190750"/>
            <a:ext cx="91678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updated_at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5474A04-1C55-493C-8C95-BDB6C0A5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2190750"/>
            <a:ext cx="38338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timestamptz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FE673D2-24B3-4F60-985C-F21AD03F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28900"/>
            <a:ext cx="1381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9515B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0058B3A-C647-4F6A-BA11-683694C5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28900"/>
            <a:ext cx="1381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A"/>
          </a:solidFill>
          <a:ln xmlns:a="http://schemas.openxmlformats.org/drawingml/2006/main" w="11430">
            <a:solidFill>
              <a:srgbClr val="49515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FCF0AC6-428C-47EC-8FF5-8F11EEDE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479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825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home_visits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C215011-09E0-4736-BEA6-238AABB1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9146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E9C1671-C324-42BA-8430-E6D017F1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14650"/>
            <a:ext cx="75961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B54E5F0-071B-4440-8FC8-102772B6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846" y="2914650"/>
            <a:ext cx="31765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8E9F617-8267-46FF-85DF-66B6582A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1242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FK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EF162AD-1BB7-4A7B-820C-E44404C1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24200"/>
            <a:ext cx="75961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198311B-D318-46F5-BE14-F4C93127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846" y="3124200"/>
            <a:ext cx="31765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8B6B210-65B5-40EB-B02B-5D87E881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33750"/>
            <a:ext cx="75961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3A06EF2-471D-4BE2-BFA4-71B01CDB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846" y="3333750"/>
            <a:ext cx="31765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3DA0873-BD5D-4A39-B67F-75792416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43300"/>
            <a:ext cx="75961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956714A-EBDE-4050-9F00-0D67B42A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846" y="3543300"/>
            <a:ext cx="31765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01D4EC8-0268-4906-9118-080B20A2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52850"/>
            <a:ext cx="75961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updated_at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FBEB568-A0F9-4F45-A633-3A356664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846" y="3752850"/>
            <a:ext cx="31765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timestamptz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AE2BCA5-6AE9-4151-856C-960BA69B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28900"/>
            <a:ext cx="16668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9515B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A19D241-5312-4DE7-AFC3-4F342896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28900"/>
            <a:ext cx="1666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A"/>
          </a:solidFill>
          <a:ln xmlns:a="http://schemas.openxmlformats.org/drawingml/2006/main" w="11430">
            <a:solidFill>
              <a:srgbClr val="49515B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779D61C-94D2-4A6F-96FA-0D0FCC2F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47950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825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pet_care_bookings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AF648AF-2A2E-477A-B605-1BD11825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146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7CC9D52-A104-4533-B108-2E3BD9AE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14650"/>
            <a:ext cx="91678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830CFAA-6784-4CDD-9160-E8AB123E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2914650"/>
            <a:ext cx="38338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BEEB6BF-A895-4AB7-A401-BEA5E12B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1242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FK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CCDBC01-133E-4173-8EB5-8C165AE8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24200"/>
            <a:ext cx="91678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4EA10D9-4DE1-4647-AA1A-97929617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3124200"/>
            <a:ext cx="38338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236CDDD-CDB2-4819-9E46-5184043C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333750"/>
            <a:ext cx="91678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D2C58D2-67CC-4A53-850B-3AA94FD5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3333750"/>
            <a:ext cx="38338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81B44AE-CC99-423F-A820-80900E35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543300"/>
            <a:ext cx="91678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72EFC30-4891-4C80-AA53-C6FECF14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3543300"/>
            <a:ext cx="38338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E889B7C-3C92-45A5-B419-70A52B69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752850"/>
            <a:ext cx="91678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updated_at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9D23B56-CB63-48F8-8723-E637E90E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3752850"/>
            <a:ext cx="38338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timestamptz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0D051C8-93F9-46E4-B345-A05F96AF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91000"/>
            <a:ext cx="1714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9515B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F0FDEB4-4714-46C9-A966-A7511F8D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9100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A"/>
          </a:solidFill>
          <a:ln xmlns:a="http://schemas.openxmlformats.org/drawingml/2006/main" w="11430">
            <a:solidFill>
              <a:srgbClr val="49515B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E82C01D-A948-419E-846E-E8BE3A6C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2100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825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medical_records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7DAEEDF-FF96-45A8-9019-FB9F11D6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76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DC50032-1EDB-4FA2-840B-CBD60EC6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76750"/>
            <a:ext cx="942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97C02E4-8A6E-47F1-9F3C-B95BB01B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4585" y="4476750"/>
            <a:ext cx="39433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C482256-9AAA-4D6B-9A1F-CDFB344B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863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FK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C8CCA22-E19D-4CEC-A16E-F07C91EC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86300"/>
            <a:ext cx="942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420B8C8-9813-4D54-9DB0-67E6B26D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4585" y="4686300"/>
            <a:ext cx="39433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07970C0-B895-4740-B8BF-C3392AF3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895850"/>
            <a:ext cx="942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95ACC4D-AB95-446C-8296-7F62A737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4585" y="4895850"/>
            <a:ext cx="39433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73B67C2-7F5B-479C-B569-6ED6BCD4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105400"/>
            <a:ext cx="942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E202A72-6115-4D31-BD88-44A394DF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4585" y="5105400"/>
            <a:ext cx="39433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56B743D-A179-4FC1-85D8-15899C5C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314950"/>
            <a:ext cx="942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172B4D"/>
                </a:solidFill>
                <a:latin typeface="Avenir Next"/>
                <a:ea typeface="Avenir Next"/>
                <a:cs typeface="Avenir Next"/>
              </a:rPr>
              <a:t>updated_at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9F1C017-E304-4521-8B3F-03872983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4585" y="5314950"/>
            <a:ext cx="39433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585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timestamptz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0F6B77B-496F-4599-8210-A722A30D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859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75" b="1">
                <a:solidFill>
                  <a:srgbClr val="49515B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75" b="1">
                <a:solidFill>
                  <a:srgbClr val="49515B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49515B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0E9F5F8-BF60-4F8B-B224-DBD27ECB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40970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75" b="1">
                <a:solidFill>
                  <a:srgbClr val="49515B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75" b="1">
                <a:solidFill>
                  <a:srgbClr val="49515B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49515B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05C066D-D857-4A32-B030-C39721FF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7180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75" b="1">
                <a:solidFill>
                  <a:srgbClr val="49515B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75" b="1">
                <a:solidFill>
                  <a:srgbClr val="49515B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49515B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064CE06-0AE8-49E1-9BFE-5A08E791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97180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75" b="1">
                <a:solidFill>
                  <a:srgbClr val="49515B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75" b="1">
                <a:solidFill>
                  <a:srgbClr val="49515B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49515B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9FB270F-B8DB-4550-BD90-05C91DBA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7670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75" b="1">
                <a:solidFill>
                  <a:srgbClr val="49515B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75" b="1">
                <a:solidFill>
                  <a:srgbClr val="49515B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49515B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73E7040-C18B-4B9C-A818-BE99E076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529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75" b="1">
                <a:solidFill>
                  <a:srgbClr val="49515B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75" b="1">
                <a:solidFill>
                  <a:srgbClr val="49515B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49515B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0FAC6F0-FDD0-4A9A-B222-DDBF7586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0970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75" b="1">
                <a:solidFill>
                  <a:srgbClr val="49515B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75" b="1">
                <a:solidFill>
                  <a:srgbClr val="49515B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49515B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52E6DF1-3767-4C90-B851-2221260E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7180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75" b="1">
                <a:solidFill>
                  <a:srgbClr val="49515B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75" b="1">
                <a:solidFill>
                  <a:srgbClr val="49515B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49515B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CCA339D-173E-4B95-8CAD-D2A4D4C1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829300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713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713" b="0">
                <a:solidFill>
                  <a:srgbClr val="50617A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50617A"/>
                </a:solidFill>
                <a:latin typeface="Avenir Next"/>
                <a:ea typeface="Avenir Next"/>
                <a:cs typeface="Avenir Next"/>
              </a:rPr>
              <a:t>Feature details are stored in JSONB. The diagram shows the application's logical ownership model.</a:t>
            </a:r>
          </a:p>
        </p:txBody>
      </p:sp>
    </p:spTree>
    <p:extLst>
      <p:ext uri="{BB962C8B-B14F-4D97-AF65-F5344CB8AC3E}">
        <p14:creationId xmlns:p14="http://schemas.microsoft.com/office/powerpoint/2010/main" val="1621956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venir Next"/>
        <a:ea typeface=""/>
        <a:cs typeface=""/>
      </a:majorFont>
      <a:minorFont>
        <a:latin typeface="Avenir Nex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2026-10-14T14:55:30.3210000Z</dcterms:created>
  <dcterms:modified xsi:type="dcterms:W3CDTF">2026-10-14T14:55:30.3210000Z</dcterms:modified>
</coreProperties>
</file>