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26176fd1a1480d" /><Relationship Type="http://schemas.openxmlformats.org/officeDocument/2006/relationships/extended-properties" Target="/docProps/app.xml" Id="R87b1d9c447414a3e" /><Relationship Type="http://schemas.openxmlformats.org/officeDocument/2006/relationships/officeDocument" Target="/ppt/presentation.xml" Id="Re547912d7f2a4d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0d28364e2c4aea"/>
  </p:sldMasterIdLst>
  <p:notesMasterIdLst>
    <p:notesMasterId xmlns:r="http://schemas.openxmlformats.org/officeDocument/2006/relationships" r:id="Rfcdb26a25bee45de"/>
  </p:notesMasterIdLst>
  <p:sldIdLst>
    <p:sldId xmlns:r="http://schemas.openxmlformats.org/officeDocument/2006/relationships" id="256" r:id="R81d5556619254ea8"/>
    <p:sldId xmlns:r="http://schemas.openxmlformats.org/officeDocument/2006/relationships" id="257" r:id="R278ef0c5c3614df7"/>
    <p:sldId xmlns:r="http://schemas.openxmlformats.org/officeDocument/2006/relationships" id="258" r:id="R59a7cafd95ec47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db2c0f84964d34" /><Relationship Type="http://schemas.openxmlformats.org/officeDocument/2006/relationships/slideMaster" Target="/ppt/slideMasters/slideMaster1.xml" Id="R3f0d28364e2c4aea" /><Relationship Type="http://schemas.openxmlformats.org/officeDocument/2006/relationships/notesMaster" Target="/ppt/notesMasters/notesMaster1.xml" Id="Rfcdb26a25bee45de" /><Relationship Type="http://schemas.openxmlformats.org/officeDocument/2006/relationships/presProps" Target="/ppt/presProps.xml" Id="R1c52a72f4cf54f77" /><Relationship Type="http://schemas.openxmlformats.org/officeDocument/2006/relationships/tableStyles" Target="/ppt/tableStyles.xml" Id="Rd3796dd928334e5b" /><Relationship Type="http://schemas.openxmlformats.org/officeDocument/2006/relationships/slide" Target="/ppt/slides/slide1.xml" Id="R81d5556619254ea8" /><Relationship Type="http://schemas.openxmlformats.org/officeDocument/2006/relationships/slide" Target="/ppt/slides/slide2.xml" Id="R278ef0c5c3614df7" /><Relationship Type="http://schemas.openxmlformats.org/officeDocument/2006/relationships/slide" Target="/ppt/slides/slide3.xml" Id="R59a7cafd95ec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8898b9d109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3c817f8a44679" /><Relationship Type="http://schemas.openxmlformats.org/officeDocument/2006/relationships/notesMaster" Target="/ppt/notesMasters/notesMaster1.xml" Id="R28dea111de5a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b013f64cd3488f" /><Relationship Type="http://schemas.openxmlformats.org/officeDocument/2006/relationships/notesMaster" Target="/ppt/notesMasters/notesMaster1.xml" Id="Rf556131232124e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4debf0e356471e" /><Relationship Type="http://schemas.openxmlformats.org/officeDocument/2006/relationships/notesMaster" Target="/ppt/notesMasters/notesMaster1.xml" Id="R6ece399f618840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uses PostgreSQL hosted on Neon as its central database.</a:t>
            </a:r>
          </a:p>
          <a:p xmlns:a="http://schemas.openxmlformats.org/drawingml/2006/main">
            <a:r>
              <a:t>The Flutter mobile application and the Vercel web portal do not connect directly to PostgreSQL. They send authenticated requests to the Node.js backend hosted on Render.</a:t>
            </a:r>
          </a:p>
          <a:p xmlns:a="http://schemas.openxmlformats.org/drawingml/2006/main">
            <a:r>
              <a:t>This keeps the database credentials on the server and applies the same validation rules to every platform.</a:t>
            </a:r>
          </a:p>
          <a:p xmlns:a="http://schemas.openxmlformats.org/drawingml/2006/main">
            <a:r>
              <a:t>Real-time socket events notify the apps when shared records change.</a:t>
            </a:r>
          </a:p>
          <a:p xmlns:a="http://schemas.openxmlformats.org/drawingml/2006/main">
            <a:r>
              <a:t>Sources: /Users/apple/NwaysLoveVetClinic/backend/src/db.js; /Users/apple/NwaysLoveVetClinic/lib/data/clinic_api.dart; /Users/apple/NwaysLoveVetClinic/web-as/src/api.js; /Users/apple/NwaysLoveVetClinic/backend/src/realtime.js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database separates information by feature so each workflow has a clear data source.</a:t>
            </a:r>
          </a:p>
          <a:p xmlns:a="http://schemas.openxmlformats.org/drawingml/2006/main">
            <a:r>
              <a:t>Medical appointments, home visits and pet-care bookings use separate tables. This supports the categories shown on the staff appointment page.</a:t>
            </a:r>
          </a:p>
          <a:p xmlns:a="http://schemas.openxmlformats.org/drawingml/2006/main">
            <a:r>
              <a:t>Each shared feature record includes an owner ID, JSON details, a version number and timestamps.</a:t>
            </a:r>
          </a:p>
          <a:p xmlns:a="http://schemas.openxmlformats.org/drawingml/2006/main">
            <a:r>
              <a:t>The version number supports optimistic concurrency, which prevents an older edit from silently replacing a newer one.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When an owner chooses a pet and service, the application sends an authenticated booking request to the backend.</a:t>
            </a:r>
          </a:p>
          <a:p xmlns:a="http://schemas.openxmlformats.org/drawingml/2006/main">
            <a:r>
              <a:t>The backend checks the session, account role and record ownership before saving the appointment.</a:t>
            </a:r>
          </a:p>
          <a:p xmlns:a="http://schemas.openxmlformats.org/drawingml/2006/main">
            <a:r>
              <a:t>Medical appointments, home visits and pet-care bookings remain separate, so staff can view them under the correct topic.</a:t>
            </a:r>
          </a:p>
          <a:p xmlns:a="http://schemas.openxmlformats.org/drawingml/2006/main">
            <a:r>
              <a:t>Passwords use hashes, API requests use session tokens, and access rules restrict each role to the appropriate records.</a:t>
            </a:r>
          </a:p>
          <a:p xmlns:a="http://schemas.openxmlformats.org/drawingml/2006/main">
            <a:r>
              <a:t>Sources: /Users/apple/NwaysLoveVetClinic/backend/src/api.js; /Users/apple/NwaysLoveVetClinic/backend/src/resources.js; /Users/apple/NwaysLoveVetClinic/lib/data/database_sync.dart; /Users/apple/NwaysLoveVetClinic/lib/data/database_stores.dart; /Users/apple/NwaysLoveVetClinic/web-as/src/api.js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2e5f8fbd240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5575a4c0e40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ef5254a814e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9d2808f4e40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cb5e5c4a847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3dedb4bda48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B945FE-43E7-4805-88E1-E0664BA08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1DC6E6-D990-4F89-9007-EC51BAF092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BE71E9-3E2C-4853-8894-88D0781AD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68F041-F1CA-4D55-A736-C1E9DF5E2A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30D198-F7CB-489A-8D08-91EB82D99B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2E99BC-9652-497A-8439-214DA35493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D9DCBE-87A6-4521-B37B-B8DB1918B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DDCC58-F883-42B0-B22D-A19149E891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40C452-9A9D-4EAD-AEA4-D969D8011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52F077-4D26-417B-8800-D24DA8FCF6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4a8908fc904647" /><Relationship Type="http://schemas.openxmlformats.org/officeDocument/2006/relationships/slideLayout" Target="/ppt/slideLayouts/slideLayout1.xml" Id="R157621b7ad734430" /><Relationship Type="http://schemas.openxmlformats.org/officeDocument/2006/relationships/slideLayout" Target="/ppt/slideLayouts/slideLayout2.xml" Id="Rd06d47ad844949f9" /><Relationship Type="http://schemas.openxmlformats.org/officeDocument/2006/relationships/slideLayout" Target="/ppt/slideLayouts/slideLayout3.xml" Id="R15e95310a5394abb" /><Relationship Type="http://schemas.openxmlformats.org/officeDocument/2006/relationships/slideLayout" Target="/ppt/slideLayouts/slideLayout4.xml" Id="R3681d91d66674600" /><Relationship Type="http://schemas.openxmlformats.org/officeDocument/2006/relationships/slideLayout" Target="/ppt/slideLayouts/slideLayout5.xml" Id="R61159cd254d149cb" /><Relationship Type="http://schemas.openxmlformats.org/officeDocument/2006/relationships/slideLayout" Target="/ppt/slideLayouts/slideLayout6.xml" Id="Rfaec81c6416345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7621b7ad734430"/>
    <p:sldLayoutId xmlns:r="http://schemas.openxmlformats.org/officeDocument/2006/relationships" id="2147483650" r:id="Rd06d47ad844949f9"/>
    <p:sldLayoutId xmlns:r="http://schemas.openxmlformats.org/officeDocument/2006/relationships" id="2147483651" r:id="R15e95310a5394abb"/>
    <p:sldLayoutId xmlns:r="http://schemas.openxmlformats.org/officeDocument/2006/relationships" id="2147483652" r:id="R3681d91d66674600"/>
    <p:sldLayoutId xmlns:r="http://schemas.openxmlformats.org/officeDocument/2006/relationships" id="2147483653" r:id="R61159cd254d149cb"/>
    <p:sldLayoutId xmlns:r="http://schemas.openxmlformats.org/officeDocument/2006/relationships" id="2147483654" r:id="Rfaec81c6416345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0c14ffec14543" /><Relationship Type="http://schemas.openxmlformats.org/officeDocument/2006/relationships/notesSlide" Target="/ppt/notesSlides/notesSlide1.xml" Id="Rb98d693da0654d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1af1202d34791" /><Relationship Type="http://schemas.openxmlformats.org/officeDocument/2006/relationships/notesSlide" Target="/ppt/notesSlides/notesSlide2.xml" Id="Rf882900807e04a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028c4dfa74074" /><Relationship Type="http://schemas.openxmlformats.org/officeDocument/2006/relationships/notesSlide" Target="/ppt/notesSlides/notesSlide3.xml" Id="R093b43a3691f45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B613F-5D04-46D0-AB9D-C3FD83E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Database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2AF65-7BAD-4D93-B2AF-2995A6DC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C9DED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9DED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C9DED8"/>
                </a:solidFill>
                <a:latin typeface="Avenir Next"/>
                <a:ea typeface="Avenir Next"/>
                <a:cs typeface="Avenir Next"/>
              </a:rPr>
              <a:t>One cloud database supports the mobile app and web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5A7F4-0E40-4649-91D9-3135FFF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3E6DC-F542-48E2-BBD8-35D090DD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75D2B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75D2B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D2B7"/>
                </a:solidFill>
                <a:latin typeface="Avenir Next"/>
                <a:ea typeface="Avenir Next"/>
                <a:cs typeface="Avenir Next"/>
              </a:rPr>
              <a:t>CENTRAL DATA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55166-0A66-47D4-AD04-F63C097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Neon PostgreSQL is the single source of truth for accounts, pets, appointments and clinic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86F2A-AAA5-4FC6-B18B-3864AD00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C9DED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9DED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9DED8"/>
                </a:solidFill>
                <a:latin typeface="Avenir Next"/>
                <a:ea typeface="Avenir Next"/>
                <a:cs typeface="Avenir Next"/>
              </a:rPr>
              <a:t>Clients access the database through the backend API. Database credentials remain on the server.</a:t>
            </a:r>
          </a:p>
        </p:txBody>
      </p:sp>
      <p:sp>
        <p:nvSpPr>
          <p:cNvPr id="7" name="mobile-app">
            <a:extLst xmlns:a="http://schemas.openxmlformats.org/drawingml/2006/main">
              <a:ext uri="{FF2B5EF4-FFF2-40B4-BE49-F238E27FC236}">
                <a16:creationId xmlns:a16="http://schemas.microsoft.com/office/drawing/2014/main" id="{091ACDF9-D8C8-4BEC-8F68-B120A64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1524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9525">
            <a:solidFill>
              <a:srgbClr val="86B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412DD-AAE1-4C38-B300-D895C9EB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9552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Flutter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mobile app</a:t>
            </a:r>
          </a:p>
        </p:txBody>
      </p:sp>
      <p:sp>
        <p:nvSpPr>
          <p:cNvPr id="9" name="web-portal">
            <a:extLst xmlns:a="http://schemas.openxmlformats.org/drawingml/2006/main">
              <a:ext uri="{FF2B5EF4-FFF2-40B4-BE49-F238E27FC236}">
                <a16:creationId xmlns:a16="http://schemas.microsoft.com/office/drawing/2014/main" id="{580964D9-C22B-46F5-8549-9143B7AB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1524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75BD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D4810-632C-4F53-855A-E3236AD4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0997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Vercel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web portal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131E2-02B2-48C4-B57F-D2DD6A55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38475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sp>
        <p:nvSpPr>
          <p:cNvPr id="12" name="backend-api">
            <a:extLst xmlns:a="http://schemas.openxmlformats.org/drawingml/2006/main">
              <a:ext uri="{FF2B5EF4-FFF2-40B4-BE49-F238E27FC236}">
                <a16:creationId xmlns:a16="http://schemas.microsoft.com/office/drawing/2014/main" id="{127AEE72-4773-4E3F-98E3-7E33373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28925"/>
            <a:ext cx="17526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4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B981A-AB8A-4E43-A82E-B3A3E8EF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19425"/>
            <a:ext cx="1371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Node.js API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on 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272FE-F648-491C-8AD3-A0CE3CA7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38475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sp>
        <p:nvSpPr>
          <p:cNvPr id="15" name="neon-db">
            <a:extLst xmlns:a="http://schemas.openxmlformats.org/drawingml/2006/main">
              <a:ext uri="{FF2B5EF4-FFF2-40B4-BE49-F238E27FC236}">
                <a16:creationId xmlns:a16="http://schemas.microsoft.com/office/drawing/2014/main" id="{265ED7AC-2296-44DA-B1D0-A6994604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76525"/>
            <a:ext cx="1524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9525">
            <a:solidFill>
              <a:srgbClr val="82D1B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9C10C-E32B-410A-A2BD-4E8555AF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33700"/>
            <a:ext cx="1219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PostgreSQL</a:t>
            </a:r>
          </a:p>
        </p:txBody>
      </p:sp>
      <p:sp>
        <p:nvSpPr>
          <p:cNvPr id="17" name="realtime-band">
            <a:extLst xmlns:a="http://schemas.openxmlformats.org/drawingml/2006/main">
              <a:ext uri="{FF2B5EF4-FFF2-40B4-BE49-F238E27FC236}">
                <a16:creationId xmlns:a16="http://schemas.microsoft.com/office/drawing/2014/main" id="{51BEAA96-6C7D-40C5-A2E7-17E4E105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6743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C54"/>
          </a:solidFill>
          <a:ln xmlns:a="http://schemas.openxmlformats.org/drawingml/2006/main" w="9525">
            <a:solidFill>
              <a:srgbClr val="2A5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F156E-F29E-4ED9-8C21-FC7F0382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75D2B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75D2B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D2B7"/>
                </a:solidFill>
                <a:latin typeface="Avenir Next"/>
                <a:ea typeface="Avenir Next"/>
                <a:cs typeface="Avenir Next"/>
              </a:rPr>
              <a:t>REAL-TIME SYNC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E938C-A97F-45CF-9ABC-BE31C1AC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1970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Socket events refresh staff and owner screens after data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12B17-498A-4F50-B975-D778C570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A6C1B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A6C1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6C1B8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9008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A407C-0B65-4C9E-987A-2BBDC27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How the data is organized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C9BAD-D361-4E62-BB0E-BF49BE0D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Feature tables separate clinical, pet-care and administrative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1725D-CDDE-4953-9626-0EAF47D1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C5710-D55F-42F0-8E37-FCF3CC750B2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683895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4724400"/>
              </a:tblGrid>
              <a:tr h="5959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Data area</a:t>
                      </a:r>
                    </a:p>
                  </a:txBody>
                  <a:tcPr marL="152400" marR="114300" marT="76200" marB="76200">
                    <a:lnL w="9525">
                      <a:solidFill>
                        <a:srgbClr val="CAD8D2"/>
                      </a:solidFill>
                      <a:prstDash val="solid"/>
                    </a:lnL>
                    <a:lnR w="9525">
                      <a:solidFill>
                        <a:srgbClr val="CAD8D2"/>
                      </a:solidFill>
                      <a:prstDash val="solid"/>
                    </a:lnR>
                    <a:lnT w="9525">
                      <a:solidFill>
                        <a:srgbClr val="CAD8D2"/>
                      </a:solidFill>
                      <a:prstDash val="solid"/>
                    </a:lnT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PostgreSQL tables</a:t>
                      </a:r>
                    </a:p>
                  </a:txBody>
                  <a:tcPr marL="152400" marR="114300" marT="76200" marB="76200">
                    <a:lnR w="9525">
                      <a:solidFill>
                        <a:srgbClr val="CAD8D2"/>
                      </a:solidFill>
                      <a:prstDash val="solid"/>
                    </a:lnR>
                    <a:lnT w="9525">
                      <a:solidFill>
                        <a:srgbClr val="CAD8D2"/>
                      </a:solidFill>
                      <a:prstDash val="solid"/>
                    </a:lnT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866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Authentication</a:t>
                      </a:r>
                    </a:p>
                  </a:txBody>
                  <a:tcPr marL="152400" marR="114300" marT="76200" marB="76200">
                    <a:lnL w="9525">
                      <a:solidFill>
                        <a:srgbClr val="CAD8D2"/>
                      </a:solidFill>
                      <a:prstDash val="solid"/>
                    </a:lnL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DD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1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app_accounts, app_sessions</a:t>
                      </a:r>
                    </a:p>
                  </a:txBody>
                  <a:tcPr marL="152400" marR="114300" marT="76200" marB="76200"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866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Pet information</a:t>
                      </a:r>
                    </a:p>
                  </a:txBody>
                  <a:tcPr marL="152400" marR="114300" marT="76200" marB="76200">
                    <a:lnL w="9525">
                      <a:solidFill>
                        <a:srgbClr val="CAD8D2"/>
                      </a:solidFill>
                      <a:prstDash val="solid"/>
                    </a:lnL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1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pets, owner_profiles</a:t>
                      </a:r>
                    </a:p>
                  </a:txBody>
                  <a:tcPr marL="152400" marR="114300" marT="76200" marB="76200"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FBFCFA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866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Medical service</a:t>
                      </a:r>
                    </a:p>
                  </a:txBody>
                  <a:tcPr marL="152400" marR="114300" marT="76200" marB="76200">
                    <a:lnL w="9525">
                      <a:solidFill>
                        <a:srgbClr val="CAD8D2"/>
                      </a:solidFill>
                      <a:prstDash val="solid"/>
                    </a:lnL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DD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1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appointments, medical_records</a:t>
                      </a:r>
                    </a:p>
                  </a:txBody>
                  <a:tcPr marL="152400" marR="114300" marT="76200" marB="76200"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866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Home and pet care</a:t>
                      </a:r>
                    </a:p>
                  </a:txBody>
                  <a:tcPr marL="152400" marR="114300" marT="76200" marB="76200">
                    <a:lnL w="9525">
                      <a:solidFill>
                        <a:srgbClr val="CAD8D2"/>
                      </a:solidFill>
                      <a:prstDash val="solid"/>
                    </a:lnL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1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home_visits, pet_care_bookings</a:t>
                      </a:r>
                    </a:p>
                  </a:txBody>
                  <a:tcPr marL="152400" marR="114300" marT="76200" marB="76200"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FBFCFA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866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Clinic operations</a:t>
                      </a:r>
                    </a:p>
                  </a:txBody>
                  <a:tcPr marL="152400" marR="114300" marT="76200" marB="76200">
                    <a:lnL w="9525">
                      <a:solidFill>
                        <a:srgbClr val="CAD8D2"/>
                      </a:solidFill>
                      <a:prstDash val="solid"/>
                    </a:lnL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DD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1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queue_entries, payments, inventory</a:t>
                      </a:r>
                    </a:p>
                  </a:txBody>
                  <a:tcPr marL="152400" marR="114300" marT="76200" marB="76200"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866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Administration</a:t>
                      </a:r>
                    </a:p>
                  </a:txBody>
                  <a:tcPr marL="152400" marR="114300" marT="76200" marB="76200">
                    <a:lnL w="9525">
                      <a:solidFill>
                        <a:srgbClr val="CAD8D2"/>
                      </a:solidFill>
                      <a:prstDash val="solid"/>
                    </a:lnL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1D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user_directory, audit_logs</a:t>
                      </a:r>
                    </a:p>
                  </a:txBody>
                  <a:tcPr marL="152400" marR="114300" marT="76200" marB="76200">
                    <a:lnR w="9525">
                      <a:solidFill>
                        <a:srgbClr val="CAD8D2"/>
                      </a:solidFill>
                      <a:prstDash val="solid"/>
                    </a:lnR>
                    <a:lnB w="9525">
                      <a:solidFill>
                        <a:srgbClr val="CAD8D2"/>
                      </a:solidFill>
                      <a:prstDash val="solid"/>
                    </a:lnB>
                    <a:solidFill>
                      <a:srgbClr val="FBFC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2F2C8-C7E1-46DB-B65B-A4B7D2D2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866D"/>
                </a:solidFill>
                <a:latin typeface="Avenir Next"/>
                <a:ea typeface="Avenir Next"/>
                <a:cs typeface="Avenir Next"/>
              </a:rPr>
              <a:t>RECORD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C55D6-744A-47D3-86D7-53C4D6A9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3F571-EA0E-4398-879C-4C85121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33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Unique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7235E-AB4F-4C4A-8252-5ACFBA12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9138E-540D-4FAC-8D8D-89CEB7F1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C52E1-00C0-4F21-ACCD-3C958D6F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0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Data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EC16D-9B44-4547-94AE-68B6CD3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244BA-5DD6-481D-93AB-9C45F9CB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A99F8-26E7-4F62-8041-998E9AFA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67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Feature details in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E9F33-70DB-43A6-A69C-F0BAD52D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243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F6D24-5633-4439-93BC-D34EAE06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F7271-E1FE-4C58-984F-DC5F442B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33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Update conflict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FCBEC-BC31-46A3-AA27-03CFD9B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59A35-92A2-4978-9746-EBABCCBF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00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timestamps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79D4F-E5E7-4980-BBDB-B1061EC4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00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Created and updated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3281A-B936-4FD5-880D-13B9C29B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758C9-C091-4865-82DE-3220882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62600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9525">
            <a:solidFill>
              <a:srgbClr val="AAC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E797A-3E5B-49F8-9170-9465F4E3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483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Role rules control who can read or change each 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8BB07-C151-43F7-BC1C-E7AB728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9857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E8A008-31A9-45B8-8CB6-08B46A1E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Appointment data flow and protection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A0E49-2D61-4647-9719-E81E5D18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One booking becomes a validated record visible to the correct clinic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B5447-DACE-411F-8D2F-A55DE663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3BE76-2FCD-4C43-8548-5F81259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771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92E3B-6C54-4E27-87FA-2407FF6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4E553-76AF-451D-9EE5-91F0BC16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Select pet</a:t>
            </a:r>
          </a:p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and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A5B9-795B-4296-8314-81FEEC45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03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54BE7-3D77-4DC1-9CEF-5FB6E785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43100"/>
            <a:ext cx="1771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122D4-5EB6-48CE-AB95-FB54AEF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0B337-FCEB-4A95-B141-6FF333A3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03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Send authenticated</a:t>
            </a:r>
          </a:p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34E11-0976-471E-87A9-BF1C07D6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B8BB2-C08B-4CFA-992B-B9049A2E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43100"/>
            <a:ext cx="1771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AE024-2B44-4798-B828-77118D1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76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54B32-8629-4BD0-847D-3B1D6C6A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003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Validate role</a:t>
            </a:r>
          </a:p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and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51ECF-9186-4B2A-81CD-A5C6B22C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3ACA6-07FF-446E-9A20-5901D974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43100"/>
            <a:ext cx="1771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9525">
            <a:solidFill>
              <a:srgbClr val="1486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51BBA-8B6B-4877-9D5B-BA2A90D9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BCADF-C75F-4828-AC97-AE62C414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Store booking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 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EF66B-5137-4CDE-88CB-FE3FF6A9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A552"/>
          </a:solidFill>
          <a:ln xmlns:a="http://schemas.openxmlformats.org/drawingml/2006/main" w="0">
            <a:solidFill>
              <a:srgbClr val="EEA5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A2066-E6D0-4373-8257-D14CD695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43100"/>
            <a:ext cx="1771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ECDDE-C24E-48B8-8807-93BD47A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866D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5FD3F-328C-4F49-BF63-8D28C9B3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Refresh staff</a:t>
            </a:r>
          </a:p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appointment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7526E-9CF4-4016-A16D-AED310E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866D"/>
                </a:solidFill>
                <a:latin typeface="Avenir Next"/>
                <a:ea typeface="Avenir Next"/>
                <a:cs typeface="Avenir Next"/>
              </a:rPr>
              <a:t>STAFF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E8FCC-DC9B-4935-A582-8218B1A2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saved record appears under the correct service topic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3D0429-0FFF-43E2-A2CB-B771382D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E927BB-ACA6-470A-8AF6-3F5E08E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96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Medical 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3D90C-D9FA-499C-AFBC-180AAF35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9580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42F7F-DEE8-43BA-8D01-D421B433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96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866D"/>
                </a:solidFill>
                <a:latin typeface="Avenir Next"/>
                <a:ea typeface="Avenir Next"/>
                <a:cs typeface="Avenir Next"/>
              </a:rPr>
              <a:t>Home Visit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2BE32-5118-4BF8-A9E4-6EA5F4DB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9580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084DED-1FF8-4A7E-A107-2E6317B2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196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B56D1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B56D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56D18"/>
                </a:solidFill>
                <a:latin typeface="Avenir Next"/>
                <a:ea typeface="Avenir Next"/>
                <a:cs typeface="Avenir Next"/>
              </a:rPr>
              <a:t>Pet Care Service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5C7BB-AB29-44A4-8ADE-E72850E2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4267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B2377B-FD11-48F1-A8C7-EC25859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Security checks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BAD97B-8CBA-44C8-823D-B8995998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D2B7"/>
          </a:solidFill>
          <a:ln xmlns:a="http://schemas.openxmlformats.org/drawingml/2006/main" w="0">
            <a:solidFill>
              <a:srgbClr val="75D2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7445FF-DAD5-44F1-B878-66A52669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rPr>
              <a:t>Passwords are stored as hashes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3196A9-831D-4D7F-8569-B3321E4C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72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D2B7"/>
          </a:solidFill>
          <a:ln xmlns:a="http://schemas.openxmlformats.org/drawingml/2006/main" w="0">
            <a:solidFill>
              <a:srgbClr val="75D2B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6602F3-BD50-45EC-AC00-6D4544BB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05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rPr>
              <a:t>Session tokens protect API requests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3F42B-6CE7-4E75-AD2F-6EE23037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53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D2B7"/>
          </a:solidFill>
          <a:ln xmlns:a="http://schemas.openxmlformats.org/drawingml/2006/main" w="0">
            <a:solidFill>
              <a:srgbClr val="75D2B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D12970-8AC6-4C31-88A5-64CF14D3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86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DEBE7"/>
                </a:solidFill>
                <a:latin typeface="Avenir Next"/>
                <a:ea typeface="Avenir Next"/>
                <a:cs typeface="Avenir Next"/>
              </a:rPr>
              <a:t>Roles and ownership limit data access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266BCD-40FB-4893-BBFE-48E8DFA3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86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4866D"/>
                </a:solidFill>
                <a:latin typeface="Avenir Next"/>
                <a:ea typeface="Avenir Next"/>
                <a:cs typeface="Avenir Next"/>
              </a:rPr>
              <a:t>Single source of truth across mobile, staff and administrator interfaces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93BB63-05D5-4E2A-B98F-BE70969F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6601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2026-10-14T14:49:50.8530000Z</dcterms:created>
  <dcterms:modified xsi:type="dcterms:W3CDTF">2026-10-14T14:49:50.8530000Z</dcterms:modified>
</coreProperties>
</file>