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fb87e4f1da4043" /><Relationship Type="http://schemas.openxmlformats.org/officeDocument/2006/relationships/extended-properties" Target="/docProps/app.xml" Id="R22339595e0624e17" /><Relationship Type="http://schemas.openxmlformats.org/officeDocument/2006/relationships/officeDocument" Target="/ppt/presentation.xml" Id="Rd4e91d72c7af40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3b676af0034138"/>
  </p:sldMasterIdLst>
  <p:notesMasterIdLst>
    <p:notesMasterId xmlns:r="http://schemas.openxmlformats.org/officeDocument/2006/relationships" r:id="Rfedfbe89ccc94230"/>
  </p:notesMasterIdLst>
  <p:sldIdLst>
    <p:sldId xmlns:r="http://schemas.openxmlformats.org/officeDocument/2006/relationships" id="256" r:id="Rdd67ef6bde8b4044"/>
    <p:sldId xmlns:r="http://schemas.openxmlformats.org/officeDocument/2006/relationships" id="257" r:id="R8744e2e001c04ff7"/>
    <p:sldId xmlns:r="http://schemas.openxmlformats.org/officeDocument/2006/relationships" id="258" r:id="R06abd483864647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4c51f6eb2b42cd" /><Relationship Type="http://schemas.openxmlformats.org/officeDocument/2006/relationships/slideMaster" Target="/ppt/slideMasters/slideMaster1.xml" Id="Rf43b676af0034138" /><Relationship Type="http://schemas.openxmlformats.org/officeDocument/2006/relationships/notesMaster" Target="/ppt/notesMasters/notesMaster1.xml" Id="Rfedfbe89ccc94230" /><Relationship Type="http://schemas.openxmlformats.org/officeDocument/2006/relationships/presProps" Target="/ppt/presProps.xml" Id="Rff8e5b579fe34dfd" /><Relationship Type="http://schemas.openxmlformats.org/officeDocument/2006/relationships/tableStyles" Target="/ppt/tableStyles.xml" Id="R8659e1e5e5524014" /><Relationship Type="http://schemas.openxmlformats.org/officeDocument/2006/relationships/slide" Target="/ppt/slides/slide1.xml" Id="Rdd67ef6bde8b4044" /><Relationship Type="http://schemas.openxmlformats.org/officeDocument/2006/relationships/slide" Target="/ppt/slides/slide2.xml" Id="R8744e2e001c04ff7" /><Relationship Type="http://schemas.openxmlformats.org/officeDocument/2006/relationships/slide" Target="/ppt/slides/slide3.xml" Id="R06abd483864647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e0b76410084a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58a332c1644a4d" /><Relationship Type="http://schemas.openxmlformats.org/officeDocument/2006/relationships/notesMaster" Target="/ppt/notesMasters/notesMaster1.xml" Id="R8925365dc35e41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362ab39eea4c51" /><Relationship Type="http://schemas.openxmlformats.org/officeDocument/2006/relationships/notesMaster" Target="/ppt/notesMasters/notesMaster1.xml" Id="R751c79f8c4e44e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0e3bfb6d544194" /><Relationship Type="http://schemas.openxmlformats.org/officeDocument/2006/relationships/notesMaster" Target="/ppt/notesMasters/notesMaster1.xml" Id="R0c5b6333aed341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59194bc6b4b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dbf4b119d4f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4248e9ef045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b121eceb24f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7bc4e3e6945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a5bc1987e240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92F7E7-81A0-47E9-B80D-25C42B3FF5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69271D-5670-44FB-BD19-DA52F52A71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F69AE0-944C-4FB3-B0BB-0724F4AD0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591A5F-AF99-49C1-835C-1CE31D767A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01C6D8-1D1B-4445-AC6F-1C728A7F95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34775C-6823-4B85-BCE2-2922F0D88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B6FD3F-7E6E-4206-B36C-35A005090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F5A442-125A-449E-9A67-AF67BF8D55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5D3719-03E3-4D48-A2E0-689BA571A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195914-42C2-4ADD-A5D3-333A182408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6ca2af60424f79" /><Relationship Type="http://schemas.openxmlformats.org/officeDocument/2006/relationships/slideLayout" Target="/ppt/slideLayouts/slideLayout1.xml" Id="R1ae6af51943148d8" /><Relationship Type="http://schemas.openxmlformats.org/officeDocument/2006/relationships/slideLayout" Target="/ppt/slideLayouts/slideLayout2.xml" Id="R1e3f6e439fb043a2" /><Relationship Type="http://schemas.openxmlformats.org/officeDocument/2006/relationships/slideLayout" Target="/ppt/slideLayouts/slideLayout3.xml" Id="R772393de0ead4936" /><Relationship Type="http://schemas.openxmlformats.org/officeDocument/2006/relationships/slideLayout" Target="/ppt/slideLayouts/slideLayout4.xml" Id="R2d3ecd7091f94950" /><Relationship Type="http://schemas.openxmlformats.org/officeDocument/2006/relationships/slideLayout" Target="/ppt/slideLayouts/slideLayout5.xml" Id="Rc958f30d96c44a0d" /><Relationship Type="http://schemas.openxmlformats.org/officeDocument/2006/relationships/slideLayout" Target="/ppt/slideLayouts/slideLayout6.xml" Id="R420c03e3472742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e6af51943148d8"/>
    <p:sldLayoutId xmlns:r="http://schemas.openxmlformats.org/officeDocument/2006/relationships" id="2147483650" r:id="R1e3f6e439fb043a2"/>
    <p:sldLayoutId xmlns:r="http://schemas.openxmlformats.org/officeDocument/2006/relationships" id="2147483651" r:id="R772393de0ead4936"/>
    <p:sldLayoutId xmlns:r="http://schemas.openxmlformats.org/officeDocument/2006/relationships" id="2147483652" r:id="R2d3ecd7091f94950"/>
    <p:sldLayoutId xmlns:r="http://schemas.openxmlformats.org/officeDocument/2006/relationships" id="2147483653" r:id="Rc958f30d96c44a0d"/>
    <p:sldLayoutId xmlns:r="http://schemas.openxmlformats.org/officeDocument/2006/relationships" id="2147483654" r:id="R420c03e3472742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3f7428c0714b50" /><Relationship Type="http://schemas.openxmlformats.org/officeDocument/2006/relationships/notesSlide" Target="/ppt/notesSlides/notesSlide1.xml" Id="R53ff0a3f26cc40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07333503544ca3" /><Relationship Type="http://schemas.openxmlformats.org/officeDocument/2006/relationships/notesSlide" Target="/ppt/notesSlides/notesSlide2.xml" Id="Rfd3b4b297fb142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b103dcdf4b47f1" /><Relationship Type="http://schemas.openxmlformats.org/officeDocument/2006/relationships/notesSlide" Target="/ppt/notesSlides/notesSlide3.xml" Id="Rdf507bf4284f4d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801CCED-D444-4CBA-BF2E-1ED1D6C83896}"/>
              </a:ext>
            </a:extLst>
          </p:cNvPr>
          <p:cNvCxnSpPr>
            <a:stCxn xmlns:a="http://schemas.openxmlformats.org/drawingml/2006/main" id="61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9429750" y="40290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8869A"/>
            </a:solidFill>
            <a:prstDash val="dash"/>
            <a:headEnd type="triangle" w="sm" len="sm"/>
          </a:ln>
        </p:spPr>
      </p:cxnSp>
      <p:cxnSp>
        <p:nvCxn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0C82190-3CBE-447D-AE14-80E8B2DA300E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 flipH="1">
            <a:off x="8324850" y="2438400"/>
            <a:ext cx="104775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78869A"/>
            </a:solidFill>
            <a:prstDash val="dash"/>
            <a:headEnd type="triangle" w="sm" len="sm"/>
          </a:ln>
        </p:spPr>
      </p:cxnSp>
      <p:cxnSp>
        <p:nvCxn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E0C2195-42DD-4D38-8A77-6044722C6F1C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V="1">
            <a:off x="9334500" y="1571625"/>
            <a:ext cx="285750" cy="114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1430">
            <a:solidFill>
              <a:srgbClr val="78869A"/>
            </a:solidFill>
            <a:prstDash val="dash"/>
            <a:headEnd type="triangle" w="sm" len="sm"/>
          </a:ln>
        </p:spPr>
      </p:cxnSp>
      <p:cxnSp>
        <p:nvCxn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BA84398-AC86-471F-9154-F0642A40B286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896100" y="1647825"/>
            <a:ext cx="628650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78869A"/>
            </a:solidFill>
            <a:prstDash val="solid"/>
            <a:head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E961FE5-B7C1-4EA5-B3DD-8AB51B0F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6FD77-00EB-4019-8C2A-91100B08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94000"/>
              </a:lnSpc>
              <a:buNone/>
              <a:defRPr sz="32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Appointment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7EC07-CA46-4B5A-8B94-A89245F5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848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98"/>
          </a:bodyPr>
          <a:lstStyle xmlns:a="http://schemas.openxmlformats.org/drawingml/2006/main">
            <a:defPPr>
              <a:defRPr sz="1350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6738A"/>
                </a:solidFill>
                <a:latin typeface="Arial"/>
                <a:ea typeface="Arial"/>
                <a:cs typeface="Arial"/>
              </a:rPr>
              <a:t>One booking record connects scheduling, clinic queue, consultation progress, and the final medical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A8B4E-4E5B-4877-9418-FA1BC0D2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8A"/>
                </a:solidFill>
                <a:latin typeface="Arial"/>
                <a:ea typeface="Arial"/>
                <a:cs typeface="Arial"/>
              </a:rPr>
              <a:t>Nway's Love Vet Clinic  ·  1/3</a:t>
            </a:r>
          </a:p>
        </p:txBody>
      </p:sp>
      <p:sp>
        <p:nvSpPr>
          <p:cNvPr id="5" name="diagram-surface-1">
            <a:extLst xmlns:a="http://schemas.openxmlformats.org/drawingml/2006/main">
              <a:ext uri="{FF2B5EF4-FFF2-40B4-BE49-F238E27FC236}">
                <a16:creationId xmlns:a16="http://schemas.microsoft.com/office/drawing/2014/main" id="{679F23D8-6B79-4132-9152-E0116EC8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"/>
            <a:ext cx="6667500" cy="575310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A130B-1C12-4D37-8C0B-49292ED4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8"/>
          </a:solidFill>
          <a:ln xmlns:a="http://schemas.openxmlformats.org/drawingml/2006/main" w="0">
            <a:solidFill>
              <a:srgbClr val="2F6F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DC7A7-69ED-4365-9763-42513924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appointments</a:t>
            </a:r>
            <a:r>
              <a:rPr>
                <a:solidFill>
                  <a:srgbClr val="66738A"/>
                </a:solidFill>
              </a:rPr>
              <a:t>: stores the selected pet, service, veterinarian, date, time, and booking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625AE-8D65-4F33-878F-502403A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C72"/>
          </a:solidFill>
          <a:ln xmlns:a="http://schemas.openxmlformats.org/drawingml/2006/main" w="0">
            <a:solidFill>
              <a:srgbClr val="2A8C7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65125-045A-423C-B697-3CA4568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queue_entries</a:t>
            </a:r>
            <a:r>
              <a:rPr>
                <a:solidFill>
                  <a:srgbClr val="66738A"/>
                </a:solidFill>
              </a:rPr>
              <a:t>: tracks same-day check-in, queue number, and the live visit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215E2-A7C6-40B2-9A12-0C7489CF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031"/>
          </a:solidFill>
          <a:ln xmlns:a="http://schemas.openxmlformats.org/drawingml/2006/main" w="0">
            <a:solidFill>
              <a:srgbClr val="D780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CAEA7-8DF4-4C24-AB07-EA598D20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doctor_appointment_state</a:t>
            </a:r>
            <a:r>
              <a:rPr>
                <a:solidFill>
                  <a:srgbClr val="66738A"/>
                </a:solidFill>
              </a:rPr>
              <a:t>: keeps clinical notes and consultation progress private to clinic 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62837-65EA-42C7-8CB7-7B185D37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8"/>
          </a:solidFill>
          <a:ln xmlns:a="http://schemas.openxmlformats.org/drawingml/2006/main" w="0">
            <a:solidFill>
              <a:srgbClr val="2F6F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CC970-4E69-47B2-B863-D34346B7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medical_records</a:t>
            </a:r>
            <a:r>
              <a:rPr>
                <a:solidFill>
                  <a:srgbClr val="66738A"/>
                </a:solidFill>
              </a:rPr>
              <a:t>: stores the finalized diagnosis, treatment, prescription, and follow-up</a:t>
            </a:r>
          </a:p>
        </p:txBody>
      </p:sp>
      <p:sp>
        <p:nvSpPr>
          <p:cNvPr id="14" name="table-app_accounts">
            <a:extLst xmlns:a="http://schemas.openxmlformats.org/drawingml/2006/main">
              <a:ext uri="{FF2B5EF4-FFF2-40B4-BE49-F238E27FC236}">
                <a16:creationId xmlns:a16="http://schemas.microsoft.com/office/drawing/2014/main" id="{16ABBD52-9F11-4A9B-ADC5-E85D1F5C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23950"/>
            <a:ext cx="1676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024B1-33FA-4FAE-B7C9-303B992F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2395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D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03A34-9549-4921-8FD4-C2358B71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1715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app_accounts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8B369-ADB8-43DB-9C1D-3824207D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668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F912E-A287-462B-80E5-2E83F776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57325"/>
            <a:ext cx="9220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EBE41-0B3D-40A1-95D0-9581BF4A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888" y="1457325"/>
            <a:ext cx="48615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6073C-3395-4B81-B122-4CB7DE1F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61D78-CC13-4521-94E8-C7DA9EC1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85925"/>
            <a:ext cx="9220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2DD70-02C8-45E4-9473-8DDA2524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888" y="1685925"/>
            <a:ext cx="48615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476C1-713A-4573-81CF-EF15F978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90868-D8AB-459E-B30F-541A7D3E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14525"/>
            <a:ext cx="9220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active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BDE821-015D-4347-BEEE-19A9AC8F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888" y="1914525"/>
            <a:ext cx="48615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51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BOOLEAN</a:t>
            </a:r>
          </a:p>
        </p:txBody>
      </p:sp>
      <p:sp>
        <p:nvSpPr>
          <p:cNvPr id="26" name="table-appointments">
            <a:extLst xmlns:a="http://schemas.openxmlformats.org/drawingml/2006/main">
              <a:ext uri="{FF2B5EF4-FFF2-40B4-BE49-F238E27FC236}">
                <a16:creationId xmlns:a16="http://schemas.microsoft.com/office/drawing/2014/main" id="{6D2D00E5-87F7-420E-865E-B1C38691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3345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D52DCC-2FB5-4603-91D5-7CE36ECE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334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45172-CAB8-41A5-9E90-A958A92B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9810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appointments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5AAEE4-E3BF-4BB7-A5D3-B3C141DD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2763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903399-52F4-47BE-AED4-6BCAF0D8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66825"/>
            <a:ext cx="99536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89C16F-5165-4669-9478-D3F6732B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283" y="1266825"/>
            <a:ext cx="52482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C1F363-61C2-4257-8D2A-CAF83BFB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611AE2-AE4B-4317-A755-6FAAF800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504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8031"/>
                </a:solidFill>
                <a:latin typeface="Arial"/>
                <a:ea typeface="Arial"/>
                <a:cs typeface="Arial"/>
              </a:rPr>
              <a:t>FK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01B449-5A92-4973-9530-FD474134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95425"/>
            <a:ext cx="99536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owner_id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BBD7CE-73EE-4C9B-9A31-2D14B434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283" y="1495425"/>
            <a:ext cx="52482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6B1ABD-983C-4364-A7C7-4E2DB7D7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41ADB4-7C87-4306-85EF-7A47CA91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24025"/>
            <a:ext cx="99536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8A9C39-A702-4264-B88F-951D7053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283" y="1724025"/>
            <a:ext cx="52482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420155-354B-4144-9688-689ACB33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F2567F-7993-4084-A4B1-35276593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52625"/>
            <a:ext cx="99536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B95A71-0270-4B0D-A1B1-65AFA061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283" y="1952625"/>
            <a:ext cx="52482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133DF0-A82D-4300-B14A-355F2927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BDC746-16AE-45D1-81F7-7A4CBCC6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81225"/>
            <a:ext cx="99536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updated_at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205D57-F7D3-40DB-AF6A-8890D74A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283" y="2181225"/>
            <a:ext cx="52482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8373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TIMESTAMPTZ</a:t>
            </a:r>
          </a:p>
        </p:txBody>
      </p:sp>
      <p:sp>
        <p:nvSpPr>
          <p:cNvPr id="45" name="table-queue_entries">
            <a:extLst xmlns:a="http://schemas.openxmlformats.org/drawingml/2006/main">
              <a:ext uri="{FF2B5EF4-FFF2-40B4-BE49-F238E27FC236}">
                <a16:creationId xmlns:a16="http://schemas.microsoft.com/office/drawing/2014/main" id="{EC1542E0-9114-44A7-9327-8660B11E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3345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E85509-DD23-43B9-93F1-426F5C30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334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E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17DF91-C5DB-49C3-B548-FA5E437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9810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queue_entries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D3D391-8063-4E07-9476-604892B6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2763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71BFEA-52E6-4C63-8706-53B14680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266825"/>
            <a:ext cx="8905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AD5EF2-1FD7-4D8A-ABAA-8B227AB4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148" y="1266825"/>
            <a:ext cx="46958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123C7C-E19D-4DA9-9725-13E01A78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668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522DD2-A4E7-4731-B9B7-3249A105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504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8031"/>
                </a:solidFill>
                <a:latin typeface="Arial"/>
                <a:ea typeface="Arial"/>
                <a:cs typeface="Arial"/>
              </a:rPr>
              <a:t>FK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349067-EA2C-46A1-9526-AB0D868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495425"/>
            <a:ext cx="8905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owner_id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8AE51F-AE33-47CE-889A-6D83DF07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148" y="1495425"/>
            <a:ext cx="46958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0B5A71-CA6B-4EE8-AEFC-EE773468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954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115CBC-2031-4F8D-ADFC-6B5EA868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24025"/>
            <a:ext cx="8905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7A8662-B8BA-4DCC-ADB2-B7FA5281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148" y="1724025"/>
            <a:ext cx="46958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08DF2A-9CF2-4E72-8CEB-C3314BA8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0F46B0-030A-4092-9636-3EF79B15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52625"/>
            <a:ext cx="8905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D43961-E703-4190-8675-C7F5DEAB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148" y="1952625"/>
            <a:ext cx="46958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61" name="table-doctor_appointment_state">
            <a:extLst xmlns:a="http://schemas.openxmlformats.org/drawingml/2006/main">
              <a:ext uri="{FF2B5EF4-FFF2-40B4-BE49-F238E27FC236}">
                <a16:creationId xmlns:a16="http://schemas.microsoft.com/office/drawing/2014/main" id="{E588F6EC-C124-498E-8BD3-E2EDBBEE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90900"/>
            <a:ext cx="2209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291814-3E5F-4F44-BC0A-5486D98C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909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C6E6F4-1D37-4F4F-A7C2-65A2BD10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385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doctor_appointment_state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1F76CF7-2E09-4FAA-8329-0C94C02A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338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0F373E-3F66-4D53-9059-32ABBB28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24275"/>
            <a:ext cx="121539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0EF46D-865C-48A1-A15B-8B2CF95F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516" y="3724275"/>
            <a:ext cx="64084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BA1710-3655-4DAD-B4D6-6D77A618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243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9A99086-7803-46E3-A15D-32B663EC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62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8031"/>
                </a:solidFill>
                <a:latin typeface="Arial"/>
                <a:ea typeface="Arial"/>
                <a:cs typeface="Arial"/>
              </a:rPr>
              <a:t>FK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34D0E93-E325-4D8A-A124-3A8E9A39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52875"/>
            <a:ext cx="121539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owner_id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9DF194C-AD2F-4CA4-AA0E-B1BCA7F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516" y="3952875"/>
            <a:ext cx="64084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17C7AD5-67B0-4C26-93C5-6B2A98DA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529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13E0FF0-0258-4F31-9D7F-7B78F699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81475"/>
            <a:ext cx="121539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62EB8B5-848E-401F-A1A1-5FB97DF2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516" y="4181475"/>
            <a:ext cx="64084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E55495E-CFF3-475E-8887-73C189D5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815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B79B32-C24F-43D2-9F88-76E46740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0075"/>
            <a:ext cx="121539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D9264EE-45ED-4B5F-9895-906700D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516" y="4410075"/>
            <a:ext cx="64084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77" name="table-medical_records">
            <a:extLst xmlns:a="http://schemas.openxmlformats.org/drawingml/2006/main">
              <a:ext uri="{FF2B5EF4-FFF2-40B4-BE49-F238E27FC236}">
                <a16:creationId xmlns:a16="http://schemas.microsoft.com/office/drawing/2014/main" id="{A9A3442D-65DC-4EDE-856C-CEB7FFF2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9090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21738EF-3EE9-496D-8FA7-811C19DB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909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214D118-B9EF-41C4-A937-D02162B6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385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medical_records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97FC68F-F87F-4567-B963-66B82488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338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EE5E70B-2DFF-4145-B599-BDADEEB4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24275"/>
            <a:ext cx="8905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EC7DB9-C12C-486E-A371-4965B047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348" y="3724275"/>
            <a:ext cx="46958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71CC276-E1A9-4347-B311-0E9C5944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243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924D52E-7CF8-404F-B3E0-CE83D550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62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8031"/>
                </a:solidFill>
                <a:latin typeface="Arial"/>
                <a:ea typeface="Arial"/>
                <a:cs typeface="Arial"/>
              </a:rPr>
              <a:t>FK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6BB752C-27AB-4659-9CC6-47F48053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52875"/>
            <a:ext cx="8905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owner_id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E224C33-91BB-498D-BF94-4689B4A2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348" y="3952875"/>
            <a:ext cx="46958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334C5F-812C-4E53-A5E6-D8E32185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529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BBF1DD2-F5BE-4F8B-A7A5-8EA0922A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81475"/>
            <a:ext cx="8905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B8B43D6-E074-49A6-81E6-EC7FB161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348" y="4181475"/>
            <a:ext cx="46958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F72B4A1-6A05-4F8B-BDBA-D2A4E0C7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815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6BCE726-12E7-4C8D-A2D8-38DC3C9F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10075"/>
            <a:ext cx="8905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updated_at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01E1C58-C667-4891-9F3F-56C2B17D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348" y="4410075"/>
            <a:ext cx="46958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518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TIMESTAMPTZ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2C04DAD-F6D4-4BE7-ACEB-CDDF9725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811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6738A"/>
                </a:solidFill>
                <a:latin typeface="Arial"/>
                <a:ea typeface="Arial"/>
                <a:cs typeface="Arial"/>
              </a:rPr>
              <a:t>booking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5FA996A-334E-49D6-ABF2-BCD1C1D2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3811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6738A"/>
                </a:solidFill>
                <a:latin typeface="Arial"/>
                <a:ea typeface="Arial"/>
                <a:cs typeface="Arial"/>
              </a:rPr>
              <a:t>check-in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BF89A65-FB64-47E2-A3A0-D3B63F4D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048000"/>
            <a:ext cx="904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6738A"/>
                </a:solidFill>
                <a:latin typeface="Arial"/>
                <a:ea typeface="Arial"/>
                <a:cs typeface="Arial"/>
              </a:rPr>
              <a:t>consultation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D851484-FFC1-4A1E-9C61-C6265F90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862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6738A"/>
                </a:solidFill>
                <a:latin typeface="Arial"/>
                <a:ea typeface="Arial"/>
                <a:cs typeface="Arial"/>
              </a:rPr>
              <a:t>finalize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B03B51B-1687-4827-9024-F50BBC54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340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86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AE7FC00-243E-4677-9299-E69E44A4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578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Foreign key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0E20F7F-C1DD-4F80-B5CD-E9CC7233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9340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869A"/>
            </a:solidFill>
            <a:prstDash val="dash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F44CE57-89E7-4488-828D-B8C0157D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8578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 reference</a:t>
            </a:r>
          </a:p>
        </p:txBody>
      </p:sp>
    </p:spTree>
    <p:extLst>
      <p:ext uri="{BB962C8B-B14F-4D97-AF65-F5344CB8AC3E}">
        <p14:creationId xmlns:p14="http://schemas.microsoft.com/office/powerpoint/2010/main" val="196842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3D4B6E-5FAA-4E3F-8032-E81127A949B3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8667750" y="2533650"/>
            <a:ext cx="0" cy="12287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8869A"/>
            </a:solidFill>
            <a:prstDash val="dash"/>
            <a:headEnd type="triangle" w="sm" len="sm"/>
          </a:ln>
        </p:spPr>
      </p:cxnSp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D1A699-0A23-429E-85DB-257546D9C60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6934200" y="2743200"/>
            <a:ext cx="733425" cy="1771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78869A"/>
            </a:solidFill>
            <a:prstDash val="solid"/>
            <a:headEnd type="triangle" w="sm" len="sm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CCE4CA-28B9-4437-80C5-6BDFD8B2A4FF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6934200" y="1781175"/>
            <a:ext cx="733425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78869A"/>
            </a:solidFill>
            <a:prstDash val="solid"/>
            <a:head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0EBB132-2C4C-41B9-819C-A8B0E78A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E4A20-FCCA-4A58-8131-7DB36FB9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94000"/>
              </a:lnSpc>
              <a:buNone/>
              <a:defRPr sz="32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Doctor posts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8E4A9-10CC-4892-AB36-319EFCE7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848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6738A"/>
                </a:solidFill>
                <a:latin typeface="Arial"/>
                <a:ea typeface="Arial"/>
                <a:cs typeface="Arial"/>
              </a:rPr>
              <a:t>Doctors prepare educational content as private drafts, then publish it to the clinic-wide health feed.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69E20-B713-48F8-A065-E235F95C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8A"/>
                </a:solidFill>
                <a:latin typeface="Arial"/>
                <a:ea typeface="Arial"/>
                <a:cs typeface="Arial"/>
              </a:rPr>
              <a:t>Nway's Love Vet Clinic  ·  2/3</a:t>
            </a:r>
          </a:p>
        </p:txBody>
      </p:sp>
      <p:sp>
        <p:nvSpPr>
          <p:cNvPr id="5" name="diagram-surface-2">
            <a:extLst xmlns:a="http://schemas.openxmlformats.org/drawingml/2006/main">
              <a:ext uri="{FF2B5EF4-FFF2-40B4-BE49-F238E27FC236}">
                <a16:creationId xmlns:a16="http://schemas.microsoft.com/office/drawing/2014/main" id="{B205753F-2653-4C8A-8F36-E3E5FF8B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"/>
            <a:ext cx="6667500" cy="575310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3ED0D-8A19-4F2F-95DE-2E9FDA3F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8"/>
          </a:solidFill>
          <a:ln xmlns:a="http://schemas.openxmlformats.org/drawingml/2006/main" w="0">
            <a:solidFill>
              <a:srgbClr val="2F6F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3E94E-4395-4EC3-B3CA-9E716658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health_post_drafts</a:t>
            </a:r>
            <a:r>
              <a:rPr>
                <a:solidFill>
                  <a:srgbClr val="66738A"/>
                </a:solidFill>
              </a:rPr>
              <a:t>: stores unfinished content that only the doctor account can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8047F-6802-4F5B-B9A6-064396F6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C72"/>
          </a:solidFill>
          <a:ln xmlns:a="http://schemas.openxmlformats.org/drawingml/2006/main" w="0">
            <a:solidFill>
              <a:srgbClr val="2A8C7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B74BE-510E-4F9B-8193-EE54DD1C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health_posts</a:t>
            </a:r>
            <a:r>
              <a:rPr>
                <a:solidFill>
                  <a:srgbClr val="66738A"/>
                </a:solidFill>
              </a:rPr>
              <a:t>: stores published, scheduled, or archived posts for the app and web portal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E431A-AB6C-4BCB-9F43-88C0A7F3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031"/>
          </a:solidFill>
          <a:ln xmlns:a="http://schemas.openxmlformats.org/drawingml/2006/main" w="0">
            <a:solidFill>
              <a:srgbClr val="D780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1E604-9C8B-4E8C-A4E3-7E551C30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Access control</a:t>
            </a:r>
            <a:r>
              <a:rPr>
                <a:solidFill>
                  <a:srgbClr val="66738A"/>
                </a:solidFill>
              </a:rPr>
              <a:t>: doctors and staff can publish; owners can read the shared clinic feed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7B531-6143-4F1D-9ECB-582C197C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Post content inside data JSONB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A7FC9-A5D9-4811-A2C8-45E76958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38A"/>
                </a:solidFill>
                <a:latin typeface="Arial"/>
                <a:ea typeface="Arial"/>
                <a:cs typeface="Arial"/>
              </a:rPr>
              <a:t>title · content · category · audience · images · status · timestamps</a:t>
            </a:r>
          </a:p>
        </p:txBody>
      </p:sp>
      <p:sp>
        <p:nvSpPr>
          <p:cNvPr id="14" name="table-app_accounts">
            <a:extLst xmlns:a="http://schemas.openxmlformats.org/drawingml/2006/main">
              <a:ext uri="{FF2B5EF4-FFF2-40B4-BE49-F238E27FC236}">
                <a16:creationId xmlns:a16="http://schemas.microsoft.com/office/drawing/2014/main" id="{AD5A92D6-7B00-4917-BAFB-370100E9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193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6F7E0-6D27-4C0E-8141-BF90B3DF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1932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D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07355-4CA2-405E-95BF-6B3DF6F8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6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app_accounts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DA4A1-A942-4215-9E38-9927564C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622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CD57C-8DCF-40FD-AEED-153448E8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52700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ED04E-2F80-4D0F-A2B7-AC75BE70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415" y="2552700"/>
            <a:ext cx="4972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C2153-DC5B-42E1-B581-A50F6BA1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527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B6166-DD7B-4914-AC11-2914CD73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4353FA-9037-4A47-9FF4-2B61D080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415" y="2781300"/>
            <a:ext cx="4972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D3ED92-B8F5-4EB0-9565-8AA158BD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813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5141E-66D4-41B6-92D1-1FE4DB26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active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E35196-49F0-44EC-82E9-1F0A5260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415" y="3009900"/>
            <a:ext cx="49720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045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BOOLEAN</a:t>
            </a:r>
          </a:p>
        </p:txBody>
      </p:sp>
      <p:sp>
        <p:nvSpPr>
          <p:cNvPr id="26" name="table-health_post_drafts">
            <a:extLst xmlns:a="http://schemas.openxmlformats.org/drawingml/2006/main">
              <a:ext uri="{FF2B5EF4-FFF2-40B4-BE49-F238E27FC236}">
                <a16:creationId xmlns:a16="http://schemas.microsoft.com/office/drawing/2014/main" id="{C6FFCAF9-42DE-4FB2-A34E-731C907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028700"/>
            <a:ext cx="2000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70734-FD8B-4257-A1F4-7E737DF8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0287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BB4802-6941-4D45-B960-97A120B8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0763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health_post_drafts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840761-429D-4F2A-A106-04730E94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71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652DC-0467-43DB-8C5D-0B5650A3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362075"/>
            <a:ext cx="11001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589725-016B-4B07-8C15-60AA0B15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793" y="1362075"/>
            <a:ext cx="58007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CCD761-40A4-40AA-8BE6-490DFF11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621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1EA1BC-C762-4A70-9500-E9883B04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002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8031"/>
                </a:solidFill>
                <a:latin typeface="Arial"/>
                <a:ea typeface="Arial"/>
                <a:cs typeface="Arial"/>
              </a:rPr>
              <a:t>FK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90414D-F689-455C-B9B8-BD84F4AD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590675"/>
            <a:ext cx="11001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owner_id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DBD079-320D-487B-AD87-A9988015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793" y="1590675"/>
            <a:ext cx="58007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6020F4-5523-4F2C-A4C7-35CF69E8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907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42DA2E-AB26-468B-860E-E95B3F3E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819275"/>
            <a:ext cx="11001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4A0DBD-A087-4593-985F-F5B8462D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793" y="1819275"/>
            <a:ext cx="58007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8BE722-71A4-491B-B175-D807F06D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193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CC78E5-814A-42F9-8D27-810568FC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047875"/>
            <a:ext cx="11001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428C96-5CAE-4706-8E93-F90E4C84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793" y="2047875"/>
            <a:ext cx="58007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8E3226-C123-41E2-B63F-8C388EE7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479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0081C5-4676-4CCE-9489-781BF395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76475"/>
            <a:ext cx="11001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updated_at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DA5461-B36F-42A5-A6D8-9C65A27A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793" y="2276475"/>
            <a:ext cx="58007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578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TIMESTAMPTZ</a:t>
            </a:r>
          </a:p>
        </p:txBody>
      </p:sp>
      <p:sp>
        <p:nvSpPr>
          <p:cNvPr id="45" name="table-health_posts">
            <a:extLst xmlns:a="http://schemas.openxmlformats.org/drawingml/2006/main">
              <a:ext uri="{FF2B5EF4-FFF2-40B4-BE49-F238E27FC236}">
                <a16:creationId xmlns:a16="http://schemas.microsoft.com/office/drawing/2014/main" id="{74D64945-1AF7-48B8-B969-74ED8FF6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62375"/>
            <a:ext cx="2000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012797-E3F9-410F-A9B0-CF04A942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62375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E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43AE10-BF92-42E7-B5BD-FE4F7F41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8100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health_posts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B71CF7-F055-49CD-8CA8-B78BD305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052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651F42-F88A-4808-B8E9-51336351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95750"/>
            <a:ext cx="11001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557BA0-A951-4F05-A64A-AB02A119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793" y="4095750"/>
            <a:ext cx="58007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586FB2-B9E1-497D-A5B5-ADD24096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957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45B79A-9B6D-4283-B5F8-DF025956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338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8031"/>
                </a:solidFill>
                <a:latin typeface="Arial"/>
                <a:ea typeface="Arial"/>
                <a:cs typeface="Arial"/>
              </a:rPr>
              <a:t>FK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4319A9-EF9D-4D96-B6AD-6BFD7827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24350"/>
            <a:ext cx="11001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owner_id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89F1DC-961E-424C-8545-1B6D34E9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793" y="4324350"/>
            <a:ext cx="58007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F9B9AD-FA87-48B9-B59A-184853AF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13FEFE-4EE8-49D4-8E6D-19B0CE8A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52950"/>
            <a:ext cx="11001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AD25F8-4457-4061-87F7-618351AC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793" y="4552950"/>
            <a:ext cx="58007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618CC2-82CE-4863-9F63-DF2435DC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529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06D7174-5DAE-450F-A675-CD9B1775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781550"/>
            <a:ext cx="11001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50006BC-700A-477D-B7A9-CB8E9805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793" y="4781550"/>
            <a:ext cx="58007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89D32C6-24EE-4B1E-8526-B142E00B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815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38AD0F-8108-44D4-9A51-81B351E8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010150"/>
            <a:ext cx="11001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updated_at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5EA18CE-6E52-40C6-8660-C80DDCA3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7793" y="5010150"/>
            <a:ext cx="58007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578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TIMESTAMPTZ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3A652E1-E150-4CAE-BAD5-D5DEA0A5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00225"/>
            <a:ext cx="1257300" cy="27241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CED5E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DCBA429-AAB0-412E-87CC-E494DC53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9907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Post lifecycle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82F31A2-2CA9-4047-A1EC-4290070D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19350"/>
            <a:ext cx="933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9525">
            <a:solidFill>
              <a:srgbClr val="CED5E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596507D-04E8-4B52-9FE3-49A49B98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8602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83BD67-D41F-4EDF-A268-0C682A3D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09900"/>
            <a:ext cx="933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CED5E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0E21B3B-B9C0-4828-AB67-53BAA215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765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Scheduled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CCDA135-0539-405F-92BD-97B50214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00450"/>
            <a:ext cx="933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4EE"/>
          </a:solidFill>
          <a:ln xmlns:a="http://schemas.openxmlformats.org/drawingml/2006/main" w="9525">
            <a:solidFill>
              <a:srgbClr val="CED5E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0D0BBD1-AEE1-4C87-81B3-EBA197E1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6712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Published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F824A58-7A29-493C-AB47-16CA8A42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91000"/>
            <a:ext cx="933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9ED"/>
          </a:solidFill>
          <a:ln xmlns:a="http://schemas.openxmlformats.org/drawingml/2006/main" w="9525">
            <a:solidFill>
              <a:srgbClr val="CED5E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7D72488-9366-4F23-BE2D-4ACB59DE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576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Archived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028860-C096-45F5-87B4-6EA35335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340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869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94C0AE1-8F20-4792-AAC8-3ECF02F4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578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Foreign key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E7DBA87-A659-4999-B117-97221C08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9340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869A"/>
            </a:solidFill>
            <a:prstDash val="dash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4BC4F4F-7748-4DFB-B0DD-9DBB5A00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8578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 reference</a:t>
            </a:r>
          </a:p>
        </p:txBody>
      </p:sp>
    </p:spTree>
    <p:extLst>
      <p:ext uri="{BB962C8B-B14F-4D97-AF65-F5344CB8AC3E}">
        <p14:creationId xmlns:p14="http://schemas.microsoft.com/office/powerpoint/2010/main" val="1347527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CA30C4-1E98-4FD5-AA81-EECC77D65E3B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9420225" y="1857375"/>
            <a:ext cx="276225" cy="1233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1430">
            <a:solidFill>
              <a:srgbClr val="78869A"/>
            </a:solidFill>
            <a:prstDash val="dash"/>
            <a:headEnd type="triangle" w="sm" len="sm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802288-6F87-489B-914B-ABE93FFE70C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6915150" y="1857375"/>
            <a:ext cx="552450" cy="971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78869A"/>
            </a:solidFill>
            <a:prstDash val="solid"/>
            <a:headEnd type="triangle" w="sm" len="sm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FA84FDF-4F8D-46EC-8C9C-A60F90FB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C088C-924F-4F18-94A6-2F4A6A8A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94000"/>
              </a:lnSpc>
              <a:buNone/>
              <a:defRPr sz="32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597CA-504D-4066-894A-0E03B29B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3848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98"/>
          </a:bodyPr>
          <a:lstStyle xmlns:a="http://schemas.openxmlformats.org/drawingml/2006/main">
            <a:defPPr>
              <a:defRPr sz="1350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6738A"/>
                </a:solidFill>
                <a:latin typeface="Arial"/>
                <a:ea typeface="Arial"/>
                <a:cs typeface="Arial"/>
              </a:rPr>
              <a:t>A shared inventory record keeps product information, stock quantity, expiry dates, and movement history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64B0F-7E72-452A-A706-E5F4C17F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38A"/>
                </a:solidFill>
                <a:latin typeface="Arial"/>
                <a:ea typeface="Arial"/>
                <a:cs typeface="Arial"/>
              </a:rPr>
              <a:t>Nway's Love Vet Clinic  ·  3/3</a:t>
            </a:r>
          </a:p>
        </p:txBody>
      </p:sp>
      <p:sp>
        <p:nvSpPr>
          <p:cNvPr id="5" name="diagram-surface-3">
            <a:extLst xmlns:a="http://schemas.openxmlformats.org/drawingml/2006/main">
              <a:ext uri="{FF2B5EF4-FFF2-40B4-BE49-F238E27FC236}">
                <a16:creationId xmlns:a16="http://schemas.microsoft.com/office/drawing/2014/main" id="{29D04ACA-8B6F-4112-832D-552EB582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"/>
            <a:ext cx="6667500" cy="575310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27979-1783-4211-A5E6-711481FE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8"/>
          </a:solidFill>
          <a:ln xmlns:a="http://schemas.openxmlformats.org/drawingml/2006/main" w="0">
            <a:solidFill>
              <a:srgbClr val="2F6F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65985-AE79-49F9-92BC-0B927872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inventory</a:t>
            </a:r>
            <a:r>
              <a:rPr>
                <a:solidFill>
                  <a:srgbClr val="66738A"/>
                </a:solidFill>
              </a:rPr>
              <a:t>: stores products and clinic supplies in one table for the mobile app and web portal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E28DD-6ED3-44A3-BF89-AF15580F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C72"/>
          </a:solidFill>
          <a:ln xmlns:a="http://schemas.openxmlformats.org/drawingml/2006/main" w="0">
            <a:solidFill>
              <a:srgbClr val="2A8C7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7D483-889B-4155-A150-AEC69C0C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Stock control</a:t>
            </a:r>
            <a:r>
              <a:rPr>
                <a:solidFill>
                  <a:srgbClr val="66738A"/>
                </a:solidFill>
              </a:rPr>
              <a:t>: records stock in, stock out, and adjustments with previous and new balances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3E377-5384-4CCF-BB0F-D2E27322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031"/>
          </a:solidFill>
          <a:ln xmlns:a="http://schemas.openxmlformats.org/drawingml/2006/main" w="0">
            <a:solidFill>
              <a:srgbClr val="D7803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A67DB-F7BC-4473-8DC7-E131C27E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3638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62B53"/>
                </a:solidFill>
              </a:rPr>
              <a:t>Monitoring</a:t>
            </a:r>
            <a:r>
              <a:rPr>
                <a:solidFill>
                  <a:srgbClr val="66738A"/>
                </a:solidFill>
              </a:rPr>
              <a:t>: supports low-stock warnings, expiry checks, restock requests, and archived items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D52FB-D335-4A26-8958-93C14054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Write access: staff, doctors, and administrators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C9FB0-0C99-48AF-87AE-C1B85313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102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38A"/>
                </a:solidFill>
                <a:latin typeface="Arial"/>
                <a:ea typeface="Arial"/>
                <a:cs typeface="Arial"/>
              </a:rPr>
              <a:t>Read access: all signed-in roles</a:t>
            </a:r>
          </a:p>
        </p:txBody>
      </p:sp>
      <p:sp>
        <p:nvSpPr>
          <p:cNvPr id="14" name="table-app_accounts">
            <a:extLst xmlns:a="http://schemas.openxmlformats.org/drawingml/2006/main">
              <a:ext uri="{FF2B5EF4-FFF2-40B4-BE49-F238E27FC236}">
                <a16:creationId xmlns:a16="http://schemas.microsoft.com/office/drawing/2014/main" id="{1A57C5FC-1C70-4345-9694-94B19C9D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05050"/>
            <a:ext cx="1695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4D139-1F22-4E4C-A48B-7090C928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050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D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843F0-752A-4FAD-8CF3-C6103C76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526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app_accounts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9C118-033E-4B84-8034-64AF0215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47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0FDAF-17F2-4210-8741-B0CDBAEE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38425"/>
            <a:ext cx="9324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DDE25-9B2F-4C8E-8EE8-4A788BC4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652" y="2638425"/>
            <a:ext cx="49168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09D5E-6E84-4804-B9D4-8DE637A5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0DC40-CD38-43CF-86AD-1346200D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67025"/>
            <a:ext cx="9324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FBECB-76D9-4D51-98E3-B85B6F07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652" y="2867025"/>
            <a:ext cx="49168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B69357-7F25-4F30-96E2-EC257DD0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4DC92C-A545-4836-A578-D9209976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93249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active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6B59C7-8D22-4C48-A05D-D090EFD7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652" y="3095625"/>
            <a:ext cx="49168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359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BOOLEAN</a:t>
            </a:r>
          </a:p>
        </p:txBody>
      </p:sp>
      <p:sp>
        <p:nvSpPr>
          <p:cNvPr id="26" name="table-inventory">
            <a:extLst xmlns:a="http://schemas.openxmlformats.org/drawingml/2006/main">
              <a:ext uri="{FF2B5EF4-FFF2-40B4-BE49-F238E27FC236}">
                <a16:creationId xmlns:a16="http://schemas.microsoft.com/office/drawing/2014/main" id="{9FE348F7-DFA5-4FE3-80AD-3DAA4827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990600"/>
            <a:ext cx="19526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65E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1F1A8-47F1-405A-9181-35D9592C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990600"/>
            <a:ext cx="1952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E"/>
          </a:solidFill>
          <a:ln xmlns:a="http://schemas.openxmlformats.org/drawingml/2006/main" w="11430">
            <a:solidFill>
              <a:srgbClr val="565E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9D2D4E-8397-4F55-8241-666FFC0F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38225"/>
            <a:ext cx="1800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8A22F1-7967-4CA6-8544-B93B2B24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333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79567F-0624-4F36-8511-9A252FA2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23975"/>
            <a:ext cx="107394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7364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B73AC4-2552-47CB-BD19-D9DF6175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859" y="1323975"/>
            <a:ext cx="56626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0C6A19-FA97-4CC5-A980-FE3F1DA3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240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563EC4-DC07-4D0A-90EE-C24FF4BD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5621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7803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8031"/>
                </a:solidFill>
                <a:latin typeface="Arial"/>
                <a:ea typeface="Arial"/>
                <a:cs typeface="Arial"/>
              </a:rPr>
              <a:t>FK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95C1DC-E950-412F-A916-FAAAECD6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52575"/>
            <a:ext cx="107394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owner_id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52B384-8D13-45CA-B6FE-05416845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859" y="1552575"/>
            <a:ext cx="56626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AC7915-9D95-4CA9-90D4-D2DFD098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526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C528E1-8BAE-477B-A900-E2345016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81175"/>
            <a:ext cx="107394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60DA9E-00E5-4D60-8B4D-725D584F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859" y="1781175"/>
            <a:ext cx="56626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734053-4ACE-48EC-B611-1B0F8AF8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812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D37215-A351-4700-A927-D98850E2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9775"/>
            <a:ext cx="107394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E498F5-B018-4A89-AE66-D55FB84B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859" y="2009775"/>
            <a:ext cx="56626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171FA3-EBE3-4F0C-A22B-7229B72B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584140-DD39-4ECE-BCFF-E766F945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38375"/>
            <a:ext cx="107394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created_at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2F6738-B800-49B2-807E-88713ECF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859" y="2238375"/>
            <a:ext cx="56626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266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TIMESTAMPTZ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92261C-4BF7-4E67-9AB5-C52D1A88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384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E2E5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36B84C-9278-46AB-AD01-301D0A75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66975"/>
            <a:ext cx="107394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27364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7364F"/>
                </a:solidFill>
                <a:latin typeface="Arial"/>
                <a:ea typeface="Arial"/>
                <a:cs typeface="Arial"/>
              </a:rPr>
              <a:t>updated_at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2FB8B5-C438-4B3D-A7AA-4BB4D1A9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859" y="2466975"/>
            <a:ext cx="56626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266"/>
          </a:bodyPr>
          <a:lstStyle xmlns:a="http://schemas.openxmlformats.org/drawingml/2006/main">
            <a:def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TIMESTAMPTZ</a:t>
            </a:r>
          </a:p>
        </p:txBody>
      </p:sp>
      <p:sp>
        <p:nvSpPr>
          <p:cNvPr id="49" name="inventory-jsonb-payload">
            <a:extLst xmlns:a="http://schemas.openxmlformats.org/drawingml/2006/main">
              <a:ext uri="{FF2B5EF4-FFF2-40B4-BE49-F238E27FC236}">
                <a16:creationId xmlns:a16="http://schemas.microsoft.com/office/drawing/2014/main" id="{901E0A5B-6176-4908-ADBA-4310733E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933450"/>
            <a:ext cx="1562100" cy="43148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CED5E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6AB720-C570-4138-92A9-17D12894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1144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62B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2B53"/>
                </a:solidFill>
                <a:latin typeface="Arial"/>
                <a:ea typeface="Arial"/>
                <a:cs typeface="Arial"/>
              </a:rPr>
              <a:t>data.value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5E2772-CB66-41E8-A9A0-51DAFA0F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5049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C93AAD-0D57-4DC3-95BF-3485F548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6764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name, category, brand, pet type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DCFBD4-9236-4A3A-B1BC-14865AD3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097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Stock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CD3FB5-F145-46DF-A359-3F230ECB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1812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quantity, unit, reorder level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910821-BF85-434A-AB3E-A943A514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146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Pricing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4630E1-74C4-43C9-9D8B-C1E67513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860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purchase and selling price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4D0E77-E07F-4089-B38F-5217CC7F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194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Expiry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EE4708-2F74-428B-98FD-35F3ABB1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908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expiresOn and status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D3B046-6905-40AE-B1AB-79F26CF0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242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Media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61BA0E0-5EDD-4E9D-B682-70A22EA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957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main image and product photos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355A5C-A713-4E11-BEA9-EE2ACCAB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290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A8C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A8C72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A8C72"/>
                </a:solidFill>
                <a:latin typeface="Arial"/>
                <a:ea typeface="Arial"/>
                <a:cs typeface="Arial"/>
              </a:rPr>
              <a:t>Movements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0C6B41-8A72-42A3-825C-F5CE9333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005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type, quantity, balances, staff, time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855E13-8768-4E33-8D2A-4BFFEDAE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5339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1">
                <a:solidFill>
                  <a:srgbClr val="2F6FB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6FB8"/>
                </a:solidFill>
                <a:latin typeface="Arial"/>
                <a:ea typeface="Arial"/>
                <a:cs typeface="Arial"/>
              </a:rPr>
              <a:t>Restock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64E653-9BC0-48F0-827D-4AC8431A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7053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788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6738A"/>
                </a:solidFill>
                <a:latin typeface="Arial"/>
                <a:ea typeface="Arial"/>
                <a:cs typeface="Arial"/>
              </a:rPr>
              <a:t>request quantity, note, approval status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9F744BA-02BC-4B0A-A384-C65A73D2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1942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50"/>
          </a:bodyPr>
          <a:lstStyle xmlns:a="http://schemas.openxmlformats.org/drawingml/2006/main">
            <a:def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 payload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6617CF-8B33-46F7-A463-82273951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340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869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CE0AA2-D3DE-49AB-9488-EE7EC0F0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578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Foreign key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6CD56BA-E79D-4F5C-B62D-614C5C14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9340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8869A"/>
            </a:solidFill>
            <a:prstDash val="dash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6DA51B-F67A-4DF5-91CB-1247502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8578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63">
                <a:solidFill>
                  <a:srgbClr val="66738A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66738A"/>
                </a:solidFill>
                <a:latin typeface="Arial"/>
                <a:ea typeface="Arial"/>
                <a:cs typeface="Arial"/>
              </a:rPr>
              <a:t>JSONB reference</a:t>
            </a:r>
          </a:p>
        </p:txBody>
      </p:sp>
    </p:spTree>
    <p:extLst>
      <p:ext uri="{BB962C8B-B14F-4D97-AF65-F5344CB8AC3E}">
        <p14:creationId xmlns:p14="http://schemas.microsoft.com/office/powerpoint/2010/main" val="835036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2026-10-14T16:17:13.0590000Z</dcterms:created>
  <dcterms:modified xsi:type="dcterms:W3CDTF">2026-10-14T16:17:13.0590000Z</dcterms:modified>
</coreProperties>
</file>