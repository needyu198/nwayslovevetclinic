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4df5fe46134401" /><Relationship Type="http://schemas.openxmlformats.org/officeDocument/2006/relationships/extended-properties" Target="/docProps/app.xml" Id="R266deb13eb0d4000" /><Relationship Type="http://schemas.openxmlformats.org/officeDocument/2006/relationships/officeDocument" Target="/ppt/presentation.xml" Id="R3ee6502201c043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c5965f69334406"/>
  </p:sldMasterIdLst>
  <p:notesMasterIdLst>
    <p:notesMasterId xmlns:r="http://schemas.openxmlformats.org/officeDocument/2006/relationships" r:id="Rb79f561d9d3f4c75"/>
  </p:notesMasterIdLst>
  <p:sldIdLst>
    <p:sldId xmlns:r="http://schemas.openxmlformats.org/officeDocument/2006/relationships" id="256" r:id="R05e7f677baf74658"/>
    <p:sldId xmlns:r="http://schemas.openxmlformats.org/officeDocument/2006/relationships" id="257" r:id="R44386c260a874cf9"/>
    <p:sldId xmlns:r="http://schemas.openxmlformats.org/officeDocument/2006/relationships" id="258" r:id="R3b4038906dcd459d"/>
    <p:sldId xmlns:r="http://schemas.openxmlformats.org/officeDocument/2006/relationships" id="259" r:id="R2f3e9e0db0b14c6b"/>
    <p:sldId xmlns:r="http://schemas.openxmlformats.org/officeDocument/2006/relationships" id="260" r:id="R3a5fa058b2824e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84f77607304778" /><Relationship Type="http://schemas.openxmlformats.org/officeDocument/2006/relationships/slideMaster" Target="/ppt/slideMasters/slideMaster1.xml" Id="Raac5965f69334406" /><Relationship Type="http://schemas.openxmlformats.org/officeDocument/2006/relationships/notesMaster" Target="/ppt/notesMasters/notesMaster1.xml" Id="Rb79f561d9d3f4c75" /><Relationship Type="http://schemas.openxmlformats.org/officeDocument/2006/relationships/presProps" Target="/ppt/presProps.xml" Id="R4fe76ecceed04277" /><Relationship Type="http://schemas.openxmlformats.org/officeDocument/2006/relationships/tableStyles" Target="/ppt/tableStyles.xml" Id="R3732adad6de54012" /><Relationship Type="http://schemas.openxmlformats.org/officeDocument/2006/relationships/slide" Target="/ppt/slides/slide1.xml" Id="R05e7f677baf74658" /><Relationship Type="http://schemas.openxmlformats.org/officeDocument/2006/relationships/slide" Target="/ppt/slides/slide2.xml" Id="R44386c260a874cf9" /><Relationship Type="http://schemas.openxmlformats.org/officeDocument/2006/relationships/slide" Target="/ppt/slides/slide3.xml" Id="R3b4038906dcd459d" /><Relationship Type="http://schemas.openxmlformats.org/officeDocument/2006/relationships/slide" Target="/ppt/slides/slide4.xml" Id="R2f3e9e0db0b14c6b" /><Relationship Type="http://schemas.openxmlformats.org/officeDocument/2006/relationships/slide" Target="/ppt/slides/slide5.xml" Id="R3a5fa058b2824e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c425b45bf247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5abf92af974cd9" /><Relationship Type="http://schemas.openxmlformats.org/officeDocument/2006/relationships/notesMaster" Target="/ppt/notesMasters/notesMaster1.xml" Id="R7d517a88df9344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4562b6c7774de2" /><Relationship Type="http://schemas.openxmlformats.org/officeDocument/2006/relationships/notesMaster" Target="/ppt/notesMasters/notesMaster1.xml" Id="R740e032ebb0949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79c0a560704298" /><Relationship Type="http://schemas.openxmlformats.org/officeDocument/2006/relationships/notesMaster" Target="/ppt/notesMasters/notesMaster1.xml" Id="R496f1d288b3140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d37152f7784743" /><Relationship Type="http://schemas.openxmlformats.org/officeDocument/2006/relationships/notesMaster" Target="/ppt/notesMasters/notesMaster1.xml" Id="R3cb9a85867d54f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64fbfff1aa497a" /><Relationship Type="http://schemas.openxmlformats.org/officeDocument/2006/relationships/notesMaster" Target="/ppt/notesMasters/notesMaster1.xml" Id="Rd2f68bec30584e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foundation contains eight PostgreSQL tables.</a:t>
            </a:r>
          </a:p>
          <a:p xmlns:a="http://schemas.openxmlformats.org/drawingml/2006/main">
            <a:r>
              <a:t>app_accounts is the primary identity table. Sessions, reset records, device tokens and operational helper tables support authentication and notifications.</a:t>
            </a:r>
          </a:p>
          <a:p xmlns:a="http://schemas.openxmlformats.org/drawingml/2006/main">
            <a:r>
              <a:t>pet_owners is retained for migration compatibility and its records are copied into app_accounts.</a:t>
            </a:r>
          </a:p>
          <a:p xmlns:a="http://schemas.openxmlformats.org/drawingml/2006/main">
            <a:r>
              <a:t>Sources: /Users/apple/NwaysLoveVetClinic/backend/src/schema.js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Owner profile and preferences contains 9 feature tables.</a:t>
            </a:r>
          </a:p>
          <a:p xmlns:a="http://schemas.openxmlformats.org/drawingml/2006/main">
            <a:r>
              <a:t>Tables on this slide: clinic_directory, owner_profiles, pets, reminders, owner_notifications, saved_addresses, notification_settings, history_reviews, saved_first_aid_guides.</a:t>
            </a:r>
          </a:p>
          <a:p xmlns:a="http://schemas.openxmlformats.org/drawingml/2006/main">
            <a:r>
              <a:t>Each feature table uses the shared record structure: id, owner_id, JSONB data, version, created_at and updated_at.</a:t>
            </a:r>
          </a:p>
          <a:p xmlns:a="http://schemas.openxmlformats.org/drawingml/2006/main">
            <a:r>
              <a:t>Header colors indicate whether the resource uses owner, clinic or private access scope.</a:t>
            </a:r>
          </a:p>
          <a:p xmlns:a="http://schemas.openxmlformats.org/drawingml/2006/main">
            <a:r>
              <a:t>Sources: /Users/apple/NwaysLoveVetClinic/backend/src/schema.js; /Users/apple/NwaysLoveVetClinic/backend/src/resources.js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Appointments and service bookings contains 7 feature tables.</a:t>
            </a:r>
          </a:p>
          <a:p xmlns:a="http://schemas.openxmlformats.org/drawingml/2006/main">
            <a:r>
              <a:t>Tables on this slide: appointments, queue_entries, home_visits, pet_care_bookings, emergency_requests, walk_in_appointments, doctor_appointment_state.</a:t>
            </a:r>
          </a:p>
          <a:p xmlns:a="http://schemas.openxmlformats.org/drawingml/2006/main">
            <a:r>
              <a:t>Each feature table uses the shared record structure: id, owner_id, JSONB data, version, created_at and updated_at.</a:t>
            </a:r>
          </a:p>
          <a:p xmlns:a="http://schemas.openxmlformats.org/drawingml/2006/main">
            <a:r>
              <a:t>Header colors indicate whether the resource uses owner, clinic or private access scope.</a:t>
            </a:r>
          </a:p>
          <a:p xmlns:a="http://schemas.openxmlformats.org/drawingml/2006/main">
            <a:r>
              <a:t>Sources: /Users/apple/NwaysLoveVetClinic/backend/src/schema.js; /Users/apple/NwaysLoveVetClinic/backend/src/resources.js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Clinical content and communication contains 7 feature tables.</a:t>
            </a:r>
          </a:p>
          <a:p xmlns:a="http://schemas.openxmlformats.org/drawingml/2006/main">
            <a:r>
              <a:t>Tables on this slide: medical_records, health_posts, health_post_drafts, clinic_messages, support_tickets, doctor_notifications, doctor_profiles.</a:t>
            </a:r>
          </a:p>
          <a:p xmlns:a="http://schemas.openxmlformats.org/drawingml/2006/main">
            <a:r>
              <a:t>Each feature table uses the shared record structure: id, owner_id, JSONB data, version, created_at and updated_at.</a:t>
            </a:r>
          </a:p>
          <a:p xmlns:a="http://schemas.openxmlformats.org/drawingml/2006/main">
            <a:r>
              <a:t>Header colors indicate whether the resource uses owner, clinic or private access scope.</a:t>
            </a:r>
          </a:p>
          <a:p xmlns:a="http://schemas.openxmlformats.org/drawingml/2006/main">
            <a:r>
              <a:t>Sources: /Users/apple/NwaysLoveVetClinic/backend/src/schema.js; /Users/apple/NwaysLoveVetClinic/backend/src/resources.js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Clinic operations and administration contains 7 feature tables.</a:t>
            </a:r>
          </a:p>
          <a:p xmlns:a="http://schemas.openxmlformats.org/drawingml/2006/main">
            <a:r>
              <a:t>Tables on this slide: payments, inventory, staff_profiles, user_directory, doctor_verifications, audit_logs, admin_profiles.</a:t>
            </a:r>
          </a:p>
          <a:p xmlns:a="http://schemas.openxmlformats.org/drawingml/2006/main">
            <a:r>
              <a:t>Each feature table uses the shared record structure: id, owner_id, JSONB data, version, created_at and updated_at.</a:t>
            </a:r>
          </a:p>
          <a:p xmlns:a="http://schemas.openxmlformats.org/drawingml/2006/main">
            <a:r>
              <a:t>Header colors indicate whether the resource uses owner, clinic or private access scope.</a:t>
            </a:r>
          </a:p>
          <a:p xmlns:a="http://schemas.openxmlformats.org/drawingml/2006/main">
            <a:r>
              <a:t>Sources: /Users/apple/NwaysLoveVetClinic/backend/src/schema.js; /Users/apple/NwaysLoveVetClinic/backend/src/resources.js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9f09ae8a574f4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40e22234c14d2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b1de42daa492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a2238011814d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55c4605fa149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586ed0bd954c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851BC7-7B17-4E9F-87F9-E6E6943D88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FDDF266-AB76-41E6-B00B-F535574D16E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9E6C276-079B-454D-914B-6679E99A4B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89C1A6-8B5A-4FF0-840F-AF39A55540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7481A7B-1EEF-4781-8F3C-04B377B829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1FEDCB9-F315-4E5A-8C07-EA99B03601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367F30A-413F-4C2B-94DB-552120A34F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D6D089-FD07-47E2-A9EC-EA7105F875F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11046A-4AE8-43A5-A95F-EBC94BCDB0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D30462-E163-47F7-AD4C-B6B6C8798D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98a6d174de4cc8" /><Relationship Type="http://schemas.openxmlformats.org/officeDocument/2006/relationships/slideLayout" Target="/ppt/slideLayouts/slideLayout1.xml" Id="Rc415643e1d2b4076" /><Relationship Type="http://schemas.openxmlformats.org/officeDocument/2006/relationships/slideLayout" Target="/ppt/slideLayouts/slideLayout2.xml" Id="R77549b76e16c488e" /><Relationship Type="http://schemas.openxmlformats.org/officeDocument/2006/relationships/slideLayout" Target="/ppt/slideLayouts/slideLayout3.xml" Id="R42fcce697371492a" /><Relationship Type="http://schemas.openxmlformats.org/officeDocument/2006/relationships/slideLayout" Target="/ppt/slideLayouts/slideLayout4.xml" Id="Ra8ca44af723b472e" /><Relationship Type="http://schemas.openxmlformats.org/officeDocument/2006/relationships/slideLayout" Target="/ppt/slideLayouts/slideLayout5.xml" Id="Rc866195218a442a2" /><Relationship Type="http://schemas.openxmlformats.org/officeDocument/2006/relationships/slideLayout" Target="/ppt/slideLayouts/slideLayout6.xml" Id="Ra5310b7e52fe48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15643e1d2b4076"/>
    <p:sldLayoutId xmlns:r="http://schemas.openxmlformats.org/officeDocument/2006/relationships" id="2147483650" r:id="R77549b76e16c488e"/>
    <p:sldLayoutId xmlns:r="http://schemas.openxmlformats.org/officeDocument/2006/relationships" id="2147483651" r:id="R42fcce697371492a"/>
    <p:sldLayoutId xmlns:r="http://schemas.openxmlformats.org/officeDocument/2006/relationships" id="2147483652" r:id="Ra8ca44af723b472e"/>
    <p:sldLayoutId xmlns:r="http://schemas.openxmlformats.org/officeDocument/2006/relationships" id="2147483653" r:id="Rc866195218a442a2"/>
    <p:sldLayoutId xmlns:r="http://schemas.openxmlformats.org/officeDocument/2006/relationships" id="2147483654" r:id="Ra5310b7e52fe48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c2250a92db4b3e" /><Relationship Type="http://schemas.openxmlformats.org/officeDocument/2006/relationships/notesSlide" Target="/ppt/notesSlides/notesSlide1.xml" Id="R486b7204c97847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039dae35154d25" /><Relationship Type="http://schemas.openxmlformats.org/officeDocument/2006/relationships/notesSlide" Target="/ppt/notesSlides/notesSlide2.xml" Id="R0b895457c3ea44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d74a6d260848d6" /><Relationship Type="http://schemas.openxmlformats.org/officeDocument/2006/relationships/notesSlide" Target="/ppt/notesSlides/notesSlide3.xml" Id="R25faa6eabc6b45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f55a197a58414a" /><Relationship Type="http://schemas.openxmlformats.org/officeDocument/2006/relationships/notesSlide" Target="/ppt/notesSlides/notesSlide4.xml" Id="R86a79fe2672d4f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3a6733aa4a4917" /><Relationship Type="http://schemas.openxmlformats.org/officeDocument/2006/relationships/notesSlide" Target="/ppt/notesSlides/notesSlide5.xml" Id="R4a38b8cb57464b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1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603F84F-CF2C-440A-8586-97BE1D3B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DATABASE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54331-B3F9-488C-A90B-15D687B7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3905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Identity and system tables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522C9-3A35-44CC-A8F4-98F6BEA4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Eight tables support login, recovery, notifications and queue numbering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DC19C-CFC0-4CB7-A324-EA422EF1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rPr>
              <a:t>Nway's Love Vet Clinic  ·  Database Design  · 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EF676-F824-4550-AB78-69A076F0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95300"/>
            <a:ext cx="6572250" cy="582930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974A96-EB4B-451A-8302-A2D61653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app_accounts: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identity, role and account 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557BA-CF43-4D33-8794-6F785740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app_sessions: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hashed login sessions with expiry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EF584-3430-4491-BBA4-92761E90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password reset: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verification codes and audit events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6D4B2-01C5-4D61-A950-796C985B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device tokens: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push-notification destinations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9AA3E-52DC-46CE-8F91-DC51E426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system helpers: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appointment reminders and daily queue counters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57919-0D22-4843-BF45-8BAEAE6B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pet_owners: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legacy owner records migrated into accounts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282A1-4D1F-4C48-AFF1-AA562BD2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575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A2C9B-9151-406C-876E-FCF68BDC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81100"/>
            <a:ext cx="0" cy="417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965B2-6546-416E-8200-DD6915C1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335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F5CE67-12C7-42DC-9101-F7715CE1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762000"/>
            <a:ext cx="1666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99ECD8-FB74-4400-9CA5-40C09013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762000"/>
            <a:ext cx="1666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A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FF9BDA-C2B9-40A8-8312-E65D2A3F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8105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pet_owners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18AAA9-59F8-4585-B4A5-AE4B3EF7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28700"/>
            <a:ext cx="209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E5C1F8-A256-4BC7-B254-3633F6A6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028700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F4EAF2-FCE4-4471-8810-D4A28914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1028700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serial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175F18-6364-4776-90FE-82888C51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240631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username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3CCEF2-12B0-42CC-8DF9-74EAA64B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1240631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FB102A-30A0-4E81-879D-9E26D2D1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52563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password_hash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6C1FDA-AC7B-4432-BABD-3D20D964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1452563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07E40A-2F85-453D-85E5-ED6C883A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64494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full_name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2975E5-DB2A-4310-B114-C94B45CE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1664494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D618A3-960C-4031-ADE6-D384FDDE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335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69BC1F-E104-4D56-AD69-E1FB28DB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62000"/>
            <a:ext cx="1666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F5F172-01C9-433D-8189-B7D17A7C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62000"/>
            <a:ext cx="1666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A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9ACC30-C2C4-4965-A06D-B39B1148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78105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app_sessions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BFE8DA-93A3-401E-8390-19C68A7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028700"/>
            <a:ext cx="209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128823-14A1-4DFA-9CC4-BB7D49A0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028700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token_hash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63E4E8-D0A2-46ED-86DC-AC4A6F47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1028700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A6F6BC-49BA-4CC1-AFA4-C96556171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240631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account_id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EEC29D-B503-4FA3-8F42-E997DC80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1240631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A702B1-0FA4-4546-B172-3CEFECD0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452563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role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A5DBD7-485D-4774-ACE3-518A900B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1452563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101A2E-AED4-4547-BF32-5EDD5537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664494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expires_at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4117C8-1254-468D-B660-D5A5A4A3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1664494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timestamptz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9E227B-DD1C-4A71-AAB5-B8ED9B03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BD38C3-14C6-4B2F-AB9B-DAADCFA8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1666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7649A3-3735-4FFF-AA8C-AB49D95D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1666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A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DA89B8-2379-40AA-9C4F-B533C24C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1455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password_reset_codes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236AB9-2045-4EC0-AE6F-79569730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62200"/>
            <a:ext cx="209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D66D78-7041-4C46-AE22-C044851D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62200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account_id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7CBFAD-D5CC-4BB8-8495-0936D10B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2362200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A287311-5593-4A3A-8982-47AD0163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74131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code_hash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60DC5CA-73BE-4D7E-A55D-9EDFEBD0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2574131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97BCD31-C672-40C1-BA5F-E1F957E0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86063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expires_at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10EE10-B194-4FC2-B786-E3F73985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2786063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timestamptz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C429A5A-E74F-4A4E-9264-249A0974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7994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attempts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DD8835-D225-4A72-980C-1FE8ED6D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2997994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0E3E932-D317-4261-A8F3-7A5A1B38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4325FF4-A2B6-4A4C-82F6-345B0DEA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1666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B337DC6-BFB0-4E7F-A112-AF5780E5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1666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A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C5566D6-029D-4128-93AD-30CF55CE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1455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password_reset_audit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5977627-2FA5-4374-8546-176E7AE2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62200"/>
            <a:ext cx="209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718E9A-64C9-4D55-A81D-64EF42B7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362200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1C61C5A-6135-4DD3-A84E-BC980110C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2362200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bigserial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63B5184-87CE-4039-AC77-F7483A52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574131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event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DAEE92A-C65E-40E9-9881-D5AB7421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2574131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1084B65-F684-4560-A92E-86E8FFBB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786063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account_id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1AB3E01-D446-460E-8139-59E4DCAA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2786063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C675172-457D-49C8-8CA7-68D0582E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997994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created_at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35C902A-0396-416C-AC58-34485B45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2997994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timestamptz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1580CBD-F45C-479B-BDCD-A3058422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6325CBF-FADF-4AC0-9D62-A3B6E9EF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29000"/>
            <a:ext cx="1666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FC015A0-23AC-4A71-B14E-E9C82E72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29000"/>
            <a:ext cx="1666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A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3B9FC03-92BC-47A9-8BE3-0A8F0B6D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4805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device_tokens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3959A7B-45E4-49E0-9BC5-529E04DE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209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4FC5ACC-ECDC-4BAD-97D8-54C42C48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95700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token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97681C8-6858-46A2-B660-A4666F8F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3695700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D0ED21F-FBD4-4573-A3E9-354A6AD5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07631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account_id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B5ED99F-93FD-41A2-AD71-A017CBCD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3907631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456A323-9505-44EC-829A-75DB0183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19563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platform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41D2306-C933-4FE6-8E31-2B9C04FA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4119563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B84A011-81EF-4E19-AE55-629C6B06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31494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updated_at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053E367-3B28-4A05-AEF7-74C088A3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4331494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timestamptz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1EEC9C4-834C-4DB7-A5DE-211ED3EC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EBF5E80-ACC9-474F-9866-E909045B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1666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AC6AA14-4E6E-42B9-AB00-7BB3EB98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1666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A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756C043-2143-4F86-A589-649C0FF2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44805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appointment_reminders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434D42D-EDBB-40C6-96F0-682BADB9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95700"/>
            <a:ext cx="209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DEF5C25-E14E-41C9-AEFC-AB7065CC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695700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appointment_id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36FF4DF-ABBA-4474-BB99-399E48C3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3695700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6223DC9-9060-4B41-9FD0-6253811C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907631"/>
            <a:ext cx="209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20A336F-5E27-4C5D-A04D-BFAE4884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907631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scheduled_for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2EB4327-B341-464D-AFBD-705439CD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3907631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timestamptz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E513421-05B9-4304-A602-FCE1693B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119563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82EDE71-015D-429D-BF82-E91430D1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4119563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CB190F5-DBC3-4135-A2EB-F618CFD9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331494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sent_at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15DFCFB-341C-4974-BEB5-D0D48832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4331494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timestamptz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D899D0D-21E7-4808-A302-A86E6015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340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49FA114-D941-4FFF-B828-5B2D9032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762500"/>
            <a:ext cx="1666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A17D1A4-6269-4FAD-B8FA-957D9681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762500"/>
            <a:ext cx="1666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A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BE9D880-8BBA-4B96-B572-4111B6A9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8155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queue_daily_counters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07D70E28-C8B5-4F26-B41B-5847F76D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29200"/>
            <a:ext cx="2095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E93B334-4D81-49A8-8C48-AD86A1F4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29200"/>
            <a:ext cx="883444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clinic_date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916DA6D-DB6F-42F4-B7BD-D121D8B6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5029200"/>
            <a:ext cx="383381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date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A2740A3-4DC7-446F-B7A3-53F7B128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453063"/>
            <a:ext cx="883444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last_number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03135DA-2254-4672-817C-CEA75AE8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5453063"/>
            <a:ext cx="383381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0B91923-857C-4C6C-AC55-8DC9BC2E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28750"/>
            <a:ext cx="2000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C566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3042014-3250-44ED-AFE9-0E9FC8B0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2875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6"/>
          </a:solidFill>
          <a:ln xmlns:a="http://schemas.openxmlformats.org/drawingml/2006/main" w="14288">
            <a:solidFill>
              <a:srgbClr val="4C566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2F65DFF-3CA8-4EB2-948F-759E6738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47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app_accounts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FE8302B-3D3A-4C7B-A889-E7D0E09C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95450"/>
            <a:ext cx="209550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E598A35-4513-46F9-9608-0C9E9747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95450"/>
            <a:ext cx="1060133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61DFCDF-B82D-4B04-B682-292B5C86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558" y="1695450"/>
            <a:ext cx="460058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8813A2F-B05D-4F56-95C0-23F08038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980142"/>
            <a:ext cx="1060133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username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97A45F7-C639-4E6B-9EBD-647FB449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558" y="1980142"/>
            <a:ext cx="460058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E7D037A-817F-4B32-A628-AEC2DDDC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64833"/>
            <a:ext cx="1060133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email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CC794B0-1376-4594-8744-E56895D4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558" y="2264833"/>
            <a:ext cx="460058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06CA3BB-57C1-4AE0-B989-E6BDF5FA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49525"/>
            <a:ext cx="1060133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phone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D306739-B778-4E09-A1EE-9C159C52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558" y="2549525"/>
            <a:ext cx="460058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B198A0B-9350-4F0D-928A-E8DCC1B1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34217"/>
            <a:ext cx="1060133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password_hash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C0F537C-052A-46AB-A1BF-F47F8204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558" y="2834217"/>
            <a:ext cx="460058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D5E9AC5-6E01-40AD-A466-CBC667E4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18908"/>
            <a:ext cx="1060133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full_name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D45D7EE-6DF9-49B3-94B6-A1E7B308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558" y="3118908"/>
            <a:ext cx="460058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CB5CE0A-C34F-4114-BC91-6676A612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03600"/>
            <a:ext cx="1060133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role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793AA62-548C-4EF7-B972-28724F0F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558" y="3403600"/>
            <a:ext cx="460058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1CA7D10-DC08-4313-9B48-52A74354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88292"/>
            <a:ext cx="1060133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active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8BD8F40-EB39-4669-992F-D099D7FD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558" y="3688292"/>
            <a:ext cx="460058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boolean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0F0E0BC-2C3E-4D05-B779-AEEA4EA1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72983"/>
            <a:ext cx="1060133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created_at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24D46AA-0F50-4FFC-A37D-AC6F61B67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558" y="3972983"/>
            <a:ext cx="460058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timestamptz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C7DE45D-BDC9-4C09-AA59-DF581062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257800"/>
            <a:ext cx="1362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675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675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8 foundation tables</a:t>
            </a:r>
          </a:p>
        </p:txBody>
      </p:sp>
    </p:spTree>
    <p:extLst>
      <p:ext uri="{BB962C8B-B14F-4D97-AF65-F5344CB8AC3E}">
        <p14:creationId xmlns:p14="http://schemas.microsoft.com/office/powerpoint/2010/main" val="3462834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F671E8F1-1296-4DE4-83F7-CBB57724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FEATURE DATABASE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98312-4C44-4B03-8122-36736793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3905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 profile and preferences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4FEB1-8B89-4EEC-A26B-415B3C08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Personal details, pets, saved choices and owner-facing history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956FC-94D4-422F-95FF-F3A3F148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rPr>
              <a:t>Nway's Love Vet Clinic  ·  Database Design  ·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C4046-21C2-4475-BEE6-069061C4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95300"/>
            <a:ext cx="6572250" cy="582930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53DB5-28DD-4C50-B0D1-65C0D5C4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owner_profiles: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contact and profile information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13A07-A9BB-45C3-BCC5-CBDD1FC4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pets: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pet identity and profile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7A8A3-C17A-4CF8-BC86-F4130D37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saved settings: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addresses and notification preferences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6C443-1278-4FCD-BF3D-89309200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 history: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reviews, reminders and saved first-aid guides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467B6E-421A-491B-803C-EED35535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clinic_directory: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shared clinic contact information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F7074-167D-44F7-8AF5-29532A70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52600"/>
            <a:ext cx="1428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C56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7E658-2028-4432-8FF8-837EBCD5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5260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6"/>
          </a:solidFill>
          <a:ln xmlns:a="http://schemas.openxmlformats.org/drawingml/2006/main" w="14288">
            <a:solidFill>
              <a:srgbClr val="4C56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690F7-684E-4588-B933-2C155258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71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app_accounts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695D1-E998-47A2-B981-DC5A991B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19300"/>
            <a:ext cx="209550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1B6192-429B-4575-9152-56041B4B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19300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32CE6-613A-4834-B9FD-D5271E9C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2019300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7ACAE3-FA0B-49C2-8A0D-6A8D8F50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83644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role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BA4727-8615-42C3-8067-D1D01767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2483644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8661CB-7403-47D7-BDCA-83F1FC02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47988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C1795C-BBD6-4289-93F3-FE1F26F7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2947988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E026C9-60EE-4B25-B94B-06CC3283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12331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508F70-6C66-40D1-B27F-D50C48C4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3412331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272C06-FA08-481A-A2EA-27825D62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38450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A1B099-493D-476F-AD14-BFF74AC1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333500"/>
            <a:ext cx="0" cy="426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5F934B-1C96-4176-952B-2DFC21A1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33350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012450-E369-47C3-85C6-6F536D5D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2287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848B0E-1019-466D-9407-842C8501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8763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E5CB92-2139-49F7-A1A9-FA977C79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8763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F3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85ADC1-DCBD-4AEF-8773-6CB01EC1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5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clinic_directory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3DB467-F8F1-4285-83E1-2A97AC4D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430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10E6D6-84E4-4581-85A1-98A49F0E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1430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DC8CFE-5057-404A-9C38-14FCBC50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1430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FCA1B7-363E-4693-AAFC-13A7B440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2977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1C9E9A-9EAC-4B1B-9395-85B6B69F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2977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812C82-B70F-45A3-9BF1-9C5E17D5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525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C7AAC3-22C7-440F-B160-4709B2CF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4525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8F89AF-46CF-4AF5-8AFF-19D8967B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073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DB06B4-1C17-49DA-9171-325F8B8F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6073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BAEAF6-A11E-40A3-B767-CA547C2B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0030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083D55-534C-453E-B4A2-C3EE6832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955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38E0A2-5EA3-441B-A51D-CF79A604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431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16EE8D-EBDB-48CA-B6AF-371D6151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431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0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BECABC-1AC8-4422-BE4D-3CCF3699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621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owner_profiles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6C3847-9B04-42F6-8329-2522EF8A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98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C100D1-E985-4F41-A340-743F29D7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098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56CC41-5744-4F9C-82BD-2301F48F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2098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551007-9050-4B4D-9E3C-238D3FBA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45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6EE625A-9CBA-49DD-99C5-B29B6FBB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3645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187FEB-CD2B-438A-9328-7B066AE2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193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05AFC3-7E4E-4BC7-8784-5A80829B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5193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22CA563-B7AC-48B1-BE9F-AC879675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741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DB2553-93C6-4E9E-8179-305E709D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6741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15BB29-7E0B-4289-9FA1-D8912FC1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6710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D6005E3-FC82-4507-8A9F-03A25432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623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4F3832-B422-4266-B490-D57C1CBD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99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79A1AC1-86F3-4DAB-B1DD-79D4A26F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99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B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B2D5BF7-371F-458E-BFD3-959B090B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pets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D89A5ED-5753-4725-820A-31799A32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766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74273BB-AF9A-4C28-8D06-4D1371A6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766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A2E118A-C5D1-486B-9EDB-7E887FC7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2766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F8AD6AA-0932-4720-8201-72F00376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313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8877E7F-C004-48A5-B1E8-2D66335F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4313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F1D3016-7870-4678-A5DD-79245649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861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EEA9A88-EA85-4C95-B0CC-43B45AD3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5861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8B3B3C1-900E-48EA-9249-97A0212B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409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74C7BE0-BCFF-4D65-8C71-269E439C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7409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C773EFB-78B0-4BF7-8A39-C3B90977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3390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E230A6E-DE48-437B-A5F6-9BEA45B9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291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34C95C4-F04B-40D1-A804-26C7BD19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767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86EB6F9-1D63-44EC-8439-4DC94B7C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767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B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EA9D5C1-BCA4-4D11-83BD-0E2267FC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reminders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E11F33C-BD1B-4CA5-B3AF-127C0512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434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E40EC65-CC18-470A-B4A4-739BDA29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434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9C1D067-4503-43A6-9798-D8743854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434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743A294-940D-4119-AFE4-33C59EA9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981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EBCC9C0-F5FA-4AB8-BB57-F1317F16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4981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C1F56F0-F31C-4B76-9356-47957159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529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4DAE710-FE80-4B18-8CD4-CC5031CC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6529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FFE1D9C-5C6A-4A43-BA25-C09CD51B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077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4380EB6-CBC1-48A6-98C2-1A3086FE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8077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4334384-0580-4CBE-BF4A-D577E4CF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60070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7AE1E7B-E400-4BC3-8E7A-084A1E19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4959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A6E69A4-7104-4DEA-8AA9-35C6B960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435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10D8A1B-D107-4372-8F92-5447685F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1435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B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83F9F7A-0020-4708-83A0-E8949FD3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62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owner_notifications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4AEC872-6C3E-465C-8FE1-E44B9AAD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102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5B78599-8AC4-4DE7-B2A7-CE0C5883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4102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4052E97-7E34-4453-8AF0-924B4BCE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4102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76C3F89-0481-4ED2-847C-9B7B7B94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5649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C98C99C-67FC-40D8-8020-81C869CF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5649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1D0366B-38A8-490E-B3C8-03ACFC8D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7197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716F6EB-FA6A-41F1-93DE-23F2C092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7197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C5BAA4E-E592-4B8F-BF68-FD451B1D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8745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D6D2F60-8498-4CFE-97B9-C54CFD56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8745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A78DA56-6436-4C6D-9534-3AEE69A8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333500"/>
            <a:ext cx="2486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392B2C3-CF9E-423D-BE23-7B25D992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2287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3271374-B0FC-4119-B09F-E3A8C0A8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8763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21203E6-8FAE-4553-8AFA-0F9AEC11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8763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0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52D8C1E-9F3F-4FFB-82E6-481ACA1D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95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saved_addresses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F578778-4B9F-4E82-81B6-B726056D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1430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987F9A3-21C2-483E-B679-1B6C18C2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1430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CC8B641-D24B-48B2-A8FD-27879FBA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1430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36379F8-3D19-4BD1-A46C-64939754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977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8D49303-4792-42C7-A951-35061E31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2977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19448F0-BBA1-4C97-BA5F-FBD8909D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4525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B76D64C-615D-4A97-94DC-EA6C80CC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4525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A9DF452-A8B7-410C-BD85-9FECE973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6073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F7F0C35-F070-4080-89CC-B6D3EAA7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6073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7E5FA20-0DD2-4DED-8289-F1D31087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00300"/>
            <a:ext cx="2486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4827B86-514F-45E6-9C67-A4EC1E14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955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D76EA99-5269-4B0E-B483-ECE2D63A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9431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6B295A8-A3DC-4AC7-9B61-144BAF79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9431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0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F2692EE-ADE0-4617-90B3-1CBB0736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621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notification_settings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0B7D908-0408-4B6E-97DD-C67F34D0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78C52B0-07CF-48D4-8279-B6B6A076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098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03C662F-6403-4C70-8796-33ECAC92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2098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9ECA207-A9B9-4861-8455-0CDBB29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645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269A6B1-C6A1-49D9-9370-39AF90E9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3645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6662905-C14D-4BC3-B864-8A6D72CB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193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0D46A59-ED99-4C4A-996C-792AECBE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5193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3A5C721-9E74-4C46-9419-C1E909DC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741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7AFD11D-0A6C-45F2-8346-642DE750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6741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5F71FB9-B6FB-45E6-8755-5167E8CC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67100"/>
            <a:ext cx="2486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BD0D3E6-3BD0-4358-864A-AFC66385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623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EE23834-01E6-4BD6-9D38-F769E94A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099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948F058-081D-4222-8231-280E3E39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099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0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5521CCA-B06A-4BAA-9E39-2B8AE1F8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history_reviews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7F75CBB-FA66-4DFB-B452-1D0FFC27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766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C090D08-9511-4177-8DD7-125BA31C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766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75BD76F8-21FA-49AC-9C98-5F58BCCE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2766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46A91209-9142-453E-B021-BCB4B05B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313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070EB2E-E86B-4E17-86CC-82E1001A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4313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BCC1A37-5843-4351-84C4-96EAE627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861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7DCD444B-20FA-4240-9009-1C99BBA6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5861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B38A3FF6-4109-434E-9BA6-5253B7BB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409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1751740-B7AB-41B6-B9A9-A856EA14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7409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BDF4352-A07A-4787-A52A-1F21A76D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33900"/>
            <a:ext cx="2486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E394178-EF7C-4BE1-9294-856BC060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4291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3BA82916-B2A4-463B-AE8E-8C734E43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767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8AF9C16-6ED7-4A88-9331-1C2422D7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767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0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99127E29-3725-4691-8959-9682B384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95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saved_first_aid_guides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7B16BAF-F41D-49BF-9A78-0F7B3977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5A2F8A7-39DB-49DB-8165-D691820A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3434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8A5AEE6D-D947-4F2A-BC51-A752716C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3434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4DD2565D-9A22-4CD1-AD22-1AE4EBE4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4981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DCC7A44-A239-41BE-B632-63E29913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4981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2C6E3499-261A-4D26-BBF9-A9D066BE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6529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14F9EB1-B850-465A-86E9-F85C6607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6529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BF98807C-FD61-4B47-82D7-15306F1A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8077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1EB2DFC4-29AC-4FA7-A43C-3BCD5556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8077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F2E91BE1-DEF6-432D-8A0A-A136307C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05100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613119FC-0EB6-4A21-87F4-D8B0A2A1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90550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Header color shows access scope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41E7A41B-FC3B-4E52-87BF-E350545D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9055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rPr>
              <a:t>owner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8B2DA7FB-D689-407B-A5DD-662B5666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9055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rPr>
              <a:t>clinic/admin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5CE51507-312A-41E4-AEE9-820B7712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9055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rPr>
              <a:t>private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871AB2D4-AAC8-41A5-88CC-AEDAD280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531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9 feature tables</a:t>
            </a:r>
          </a:p>
        </p:txBody>
      </p:sp>
    </p:spTree>
    <p:extLst>
      <p:ext uri="{BB962C8B-B14F-4D97-AF65-F5344CB8AC3E}">
        <p14:creationId xmlns:p14="http://schemas.microsoft.com/office/powerpoint/2010/main" val="12412471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1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F594579-A9E1-4D20-A269-EDB1440D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FEATURE DATABASE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DF0EB-F4E2-4073-8D37-C3C47BE5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3905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Appointments and service bookings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768F8-5177-40C2-A7AF-60A4431B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Medical, home-visit and pet-care workflows remain separate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B60FA-1D5D-4BAF-88B1-05AD8147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rPr>
              <a:t>Nway's Love Vet Clinic  ·  Database Design  ·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FE2B4-C79F-42A5-801D-04C23263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95300"/>
            <a:ext cx="6572250" cy="582930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EA67DD-DDFD-46E5-824C-1F38893D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appointments: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medical-service bookings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78CC4-D7D2-4B5F-BA70-9906CA61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home_visits: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services at the owner's address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0F23A-3F1C-4444-B4EA-DC2D3C36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pet_care_bookings: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grooming, bathing, nail trimming and boarding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3150D-042F-43E8-B998-DC638381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queue tables: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check-in order and walk-in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4220D-4493-4435-8752-E2BA798B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doctor state: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clinic view of appointment progress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EFC88-E77F-4594-A60D-0D36590A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52600"/>
            <a:ext cx="1428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C56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428DF0-DCC4-41C7-9638-9AABAC43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5260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6"/>
          </a:solidFill>
          <a:ln xmlns:a="http://schemas.openxmlformats.org/drawingml/2006/main" w="14288">
            <a:solidFill>
              <a:srgbClr val="4C56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7CCE3-BE56-4C93-AE0E-19705F42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71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app_accounts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41D192-5D1A-47A5-B2DE-B93CECF2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19300"/>
            <a:ext cx="209550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7F6D4-AD76-4B74-AFB3-8BBD7888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19300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F4386B-7142-43C2-ABAD-0B28CE9D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2019300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AE8815-0414-4F28-8E70-FC100A84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83644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role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BD24BE-1215-448E-B8F1-B8089275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2483644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A4C6E4-67B0-4399-8575-6FCBF89C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47988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D5EFD2-8D38-47CD-9BAA-248DA34A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2947988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F5C571-5312-4056-84B9-32A32A9A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12331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EF1A45-FA54-44A4-B3D9-8D4296A0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3412331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85D049-C740-4039-81AA-81907D0B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38450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EC9978-3F7B-4D65-9B52-2B1A4F9D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333500"/>
            <a:ext cx="0" cy="3200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4F29CF-0729-4491-A9BD-1D1086B8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33350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C8141C-12E3-48E5-AA41-844B646A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2287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B9E28D-7112-48A8-9319-013DBBE9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8763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0D9A2D-FC38-4A13-818F-FE4E4ABD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8763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B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6D8624-4F30-4C38-A9E2-B1EE4C020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5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appointments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430836-8AA7-4B99-BBFB-61A90FA2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430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007B7F-040E-4DF8-B4F2-BBB73C63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1430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7108C7-871C-41A2-BF08-BD6A91BE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1430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2F6E1D-86EB-4BD8-973C-61D59231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2977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EA55BB-340C-48AE-AEF5-491F0C99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2977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8253AD-BEDE-461E-9F0F-6A77AE2A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525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1A85E8-3737-4FE7-9B4C-C4ADEAFB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4525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3C735C-FD6A-48EC-8C81-E225B111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073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0293CA-F178-4F7C-9750-E2C28465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6073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91D551-F910-4D99-957B-E98D5C3E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0030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7BF6F3-2DCA-4BD1-BC9C-17CCA57D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955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D13794-19E0-4E6F-9E1E-F52F2A3B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431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8232CB-8FED-4D25-84C6-25376957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431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B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737F53-58F3-459C-8E3F-FC5C37EB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621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queue_entries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ABF027-05AD-443B-AA3C-84F6DDD57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98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1A9F39-7646-44FA-BEA7-3398480E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098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0F1B990-B6CF-41BD-8774-8DF41E30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2098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244F4D8-D2A7-4AFC-8471-071EF823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45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A6962D-056B-426D-A690-2E7E46EF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3645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03B77E-379A-4BB8-914D-3F66794A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193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D5C3EA3-9259-4383-8F5E-5595EFE2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5193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D484F26-FDAD-4A15-962A-06E6F5C4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741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70BEF47-542E-4696-A54F-980A5688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6741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4798F20-BBD2-4C89-AB87-5A2D53DBF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6710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7D4E59C-13F2-4479-A44C-B697910F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623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1A54393-88FC-463D-918C-0C362B5B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99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678CC41-2DFA-4E92-AFCE-D77696AE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99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B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39A061E-4DDF-417B-8157-4AEC174D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home_visits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3B748DF-C64E-4916-8FF6-A7F4327C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766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3A612DE-8ADE-4493-82AE-021B8718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766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76883CB-4459-4B57-8A8A-26157180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2766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6CB8E93-3690-4249-AEF9-302F722D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313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14BDB05-42EF-4B19-A4E9-5B35825F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4313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1A3FC2B-925F-4EAE-8D99-0CFC6950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861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F20563-C46B-4FCC-9BDE-89168887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5861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65A7347-FF98-4CE0-B768-5DCB532F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409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87D6FB7-560C-48E0-9A24-1ADC0490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7409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135A11D-A3F3-4AD7-B689-2355EE23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3390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3CA1E5E-A275-4D67-8DCF-A781A801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291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C6AB291-B85E-48CB-9293-B970B8FC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767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8BBE7BB-08AF-4893-92B7-F7231BAB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767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B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174584F-3C56-438F-8004-5B7983DA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pet_care_bookings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58FDB20-182A-4B25-99AA-0885CAF2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434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A4CF72F-A406-42CA-9875-5B4729EB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434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51E0712-656E-4571-B1AD-0C96996E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434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04B9D2E-8C21-4BC0-86EE-B901D3A2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981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10F1F08-CAF2-44CF-B63E-75B82B04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4981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0B259CB-D3B8-406E-9245-FDC4FF82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529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D766327-C2A3-4B20-8D84-6C85064D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6529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350A9BB-ACB8-4FE9-9E29-DD9E830B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077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28B4DBB-8376-4644-AC44-218B8A63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8077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C8B1284-01AD-46D8-AB7A-51AC154B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333500"/>
            <a:ext cx="2486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C568C64-7C6C-43EB-968E-B2A3FE86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2287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61506D8-1AD4-45E9-B2B6-68F142F0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8763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C5A3E0A-BFC3-4D06-9B32-B24D3471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8763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B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60EE311-9A29-42E2-B94D-A7992A39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95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emergency_requests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7086692-D9D5-40B9-BFA4-9C7D25ED7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1430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3342DCF-C2BF-4763-9C02-83AAA4D3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1430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2187070-DB01-45BD-AAA0-3524904C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1430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1217268-BAAD-4555-8D01-E7053476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977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0CDC8B1-D6D6-4344-A0C6-D68F5D3A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2977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19E4CBB-4071-4112-AA92-41B20BAF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4525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AF5BD7F-32B1-41B4-8923-9B370083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4525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B4E7BA3-F35C-4E34-8021-9CDBFD90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6073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E9D98E7-935A-423C-82DC-EBBACB45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6073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9845636-9988-46D1-B1A3-43B72648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00300"/>
            <a:ext cx="2486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0D9E057-4B0C-422E-AB05-59C663CF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955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B1427EF-D051-454C-A184-0AAD98C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9431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CEC203C-9D94-4024-9199-8CAFD7CA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9431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F3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D1C03AA-39CD-4BEE-90F2-90A6AD58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621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walk_in_appointments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CD51C99-ECC2-4190-A657-03874367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51DDDF3-F33A-4C18-BFC3-2FF20B9C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098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36C6257-5F95-4E8D-86ED-0D2FDB61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2098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FCF9ADA-7C25-4C73-B857-F496AF61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645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9AD4948-223F-4DF5-891B-0264848B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3645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3213372-AD78-40CD-9FD6-6F1F409C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193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26F1D37-2C36-40D1-A0AC-EC0E38D9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5193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5803034-0D63-4E3C-AFDD-7871D8E6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741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31236F1-DD2A-40D1-BA5D-D3D0BE45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6741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FF89F64-B1EC-4F9C-8A3D-51DE0E6F5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67100"/>
            <a:ext cx="2486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2AA0CEF-D91A-417A-8F1E-26BE9B4C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623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DE08EE0-BA99-42F1-A286-42C2C624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099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97AB7D8-0A30-4420-A948-F7E9B3D2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099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F3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89C8199-0E99-457C-876F-E706C3F5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doctor_appointment_state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4037CC7-BCC1-4D17-9DBE-DB0CFF2E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766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6609FF0-307D-48A5-9E1E-70154869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766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A0895BD-4E0A-4A21-BA26-90295946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2766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EF2ABD9-6375-4083-9110-CDF6CA4EA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313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C8F3280-826B-4304-A394-E20AA154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4313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CE9E245-11B5-4727-A304-D5EE32F3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861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A8F7686-1A4B-41DB-920B-C2766C37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5861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4D6C621-86F6-4B5F-B649-61B6EED0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409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2B225EC-2D55-433C-9736-2BEF7C89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7409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8EE4E62-FDB3-43C6-B371-054B96548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05100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323F26D-1BE9-4D6F-B774-F504F687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90550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Header color shows access scope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320D42C4-DC50-4C96-ADB5-D60595F3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9055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rPr>
              <a:t>owner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7180E64-6457-4736-BCCE-C2F22B7D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9055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rPr>
              <a:t>clinic/admin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3B1279F-1748-41F1-A008-12BA340E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9055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rPr>
              <a:t>private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7AEFBBF-A743-45BE-90A1-753B1B07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531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7 feature tables</a:t>
            </a:r>
          </a:p>
        </p:txBody>
      </p:sp>
    </p:spTree>
    <p:extLst>
      <p:ext uri="{BB962C8B-B14F-4D97-AF65-F5344CB8AC3E}">
        <p14:creationId xmlns:p14="http://schemas.microsoft.com/office/powerpoint/2010/main" val="9493815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DC837A3-6BE4-4559-BAFA-A2C2A01D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FEATURE DATABASE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A1ED1-D91E-4BE4-98D6-337F5B52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3905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Clinical content and communication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8F6CFE-6FAB-4C67-84A5-FFDCCE98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Clinic records and messages use role-controlled access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98D4E-91A8-4EFA-ABA3-1A8E13A5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rPr>
              <a:t>Nway's Love Vet Clinic  ·  Database Design  ·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C807F-23FE-4A7F-9268-B3D63186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95300"/>
            <a:ext cx="6572250" cy="582930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A2378-9B36-408B-A495-52C2A432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medical_records: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treatment history written by clinic roles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43C5B-F9AD-4450-AE33-0015C3CB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health content: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published posts and doctor drafts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563868-8B56-4A79-8571-921DE176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clinic_messages: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owner conversations with the clinic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3030D-5A4F-4880-83B5-E9B51BE5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support_tickets: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reported questions and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9EDA2-9319-48F0-990E-61503E33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doctor data: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profiles and private notifications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4D05F-294F-4DFD-B11F-1AC6597B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52600"/>
            <a:ext cx="1428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C56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6BF34-9417-49A1-917E-6DDDB466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5260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6"/>
          </a:solidFill>
          <a:ln xmlns:a="http://schemas.openxmlformats.org/drawingml/2006/main" w="14288">
            <a:solidFill>
              <a:srgbClr val="4C56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317B2D-213A-4561-9B01-00154748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71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clinic roles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D8094-DDF7-4F28-BBE5-6F3D3A4B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19300"/>
            <a:ext cx="209550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BE798-27A0-406E-AA96-00E7D877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19300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83B544-8B89-4DBB-A794-D9B297CD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2019300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50EA61-2B13-46A5-9B19-1275F130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83644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role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4CF61B-36A6-4BE1-A4A5-1E33D372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2483644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026B8-E10E-487C-A83E-02EA05FD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47988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B3D9E9-582D-4FF7-81C0-180F867D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2947988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7A7329-CC61-497F-B36F-B2130D85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12331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8DCC49-0C61-447A-A6AA-A392BC35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3412331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C8E4F6-836A-4EB7-981C-477E5F93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38450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259785-6334-4516-BB3C-EA43C7DD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333500"/>
            <a:ext cx="0" cy="3200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D28809-495D-4F64-A79F-F017CDDB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33350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774B23-0913-4731-90E7-55C18274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2287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863B73-39E0-4C19-9C5A-922FAD29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8763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4D5584-6D8B-4078-B4EC-F481893D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8763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F3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FAF057-8891-4D25-8AB0-46EA8B87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5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medical_records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60B9E4-EA5B-4D49-925A-054CCF0F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430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58252A-6A31-49CB-B30B-A2310843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1430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E2C682-15C2-4CF8-A784-DAB8D2A6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1430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8E1356-090A-439A-B3A0-9E5B2061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2977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619CD9-F56E-4223-B631-71FA4415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2977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7042B5-9E92-490A-96A7-03B571A0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525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3C15B0-C400-4B0D-8E4C-015D21D0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4525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CE2CF7-BAD8-43E2-B3B7-019A9C1B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073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60FC9A-B1EF-41AA-92F9-F7AEBDBC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6073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D7F895-FDD5-4275-9B63-FF08FE18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0030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08501A-90A8-4AAA-BF7B-D88EDCEB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955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6F4238-35D6-48EB-918D-8C2F2A7E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431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0CCF10-F12D-457B-BDAD-3EC4755F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431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F3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6BD875-FA81-461D-BE92-C0FB5DDE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621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health_posts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8367E4-F75A-437C-B5A3-9F440B7F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98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9C4D8F-5FF0-42E2-B176-10C2C80A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098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054A59-344C-42B4-B692-F5507D87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2098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B889DF-5EB0-437A-A5D7-DDEBC7F5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45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D3613F9-BE68-44A7-A619-A56C0F51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3645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A6D1609-BDB2-47D6-A184-F5D5DF00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193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9C12CB1-9E68-4FEC-8EF9-AA0D617F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5193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8AB944B-ABA8-43A7-9E7F-5DFB5F59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741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66820D0-B3C8-49C8-B998-ABA65373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6741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C0D9435-F251-439D-A192-39D6A5C8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6710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ECA6042-0F98-436A-B0BD-FE842CF6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623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C90C45-33BB-4B6D-8720-D8EA1F7F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99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E365626-A3D9-467B-8FAE-A50C69C7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99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0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668EE7-F521-478A-B0BA-9A4A2A99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health_post_drafts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1A7180-29A7-4599-9203-A5931D32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766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4992909-FE4F-4F55-A3CC-3B64229E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766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BAE64AA-1450-4FB4-B742-21220137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2766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843D3FF-470D-4590-AEEB-295421D60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313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9FFCBAD-C946-4B49-8D64-A3BE170D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4313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3649DDC-F01F-4E6D-A94F-9AF6A787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861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F2CDB36-BD15-47B4-BF3D-D69C9A91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5861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C65C660-71C5-4724-ABA7-5DE4C099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409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53682A-E42A-472C-AC4A-7FF2F1F8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7409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494FA10-2B55-41D3-9057-3B90E157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3390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C1AE30F-0D60-4F2B-9134-CD7F1F4C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291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1CC4C83-2AD0-4311-8B7B-7CB3FC5D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767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CFED140-8519-4896-8210-1789D96B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767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B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8FDF360-052B-4AB6-B579-DCEE03A0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clinic_messages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73693E3-181E-4B75-B5CC-A146FB4A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434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5E4806C-72FF-4B61-A1E7-F06C7097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434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35DFB39-60D8-4E8B-ACE0-22E00E2A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434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FD8CB1D-4611-4F79-B53B-6A44D8BA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981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36B1A52-3BA9-47F1-BE49-78C8EE3E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4981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943C642-4C18-4C66-A997-7AAD2DF4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529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4C1B45C-5465-4554-A6D3-DA45132D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6529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E240ABE-C75A-41AE-8C57-95786F99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077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583EFFA-52E6-41A4-8693-8F06BFD1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8077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DDB1E21-465A-47C1-804C-EC341A39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333500"/>
            <a:ext cx="2486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FE1B33E-ABF4-4448-96E2-493532F0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2287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0B2B550-B1BB-4B1B-A23E-361985BD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8763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E41EEE5-73EA-494C-9E8B-BC35E97B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8763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B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24EFA44-49CF-400A-84C0-82C13AB6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95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support_tickets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2ABD2A1-4995-4E55-8070-EB2B1FDD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1430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2B76C3E-DB0E-46E2-AFFB-3CA3EB35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1430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937CE47-CE8D-4BAD-8F96-49822A17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1430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CD9D282-8CCE-4F43-AF39-80709062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977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989D501-2C00-4F9E-AAAA-2D306634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2977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885E50A-F062-439F-A3EB-4BFE0248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4525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C1015EE-2FF0-436C-BC9C-6B3826F3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4525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51B78DF-1A1F-4ECC-863C-E8C8E5B9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6073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0C91318-1932-469D-AB07-1C2DC3EA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6073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2AB8E86-EDC5-4716-BCC8-8669E51B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00300"/>
            <a:ext cx="2486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6BC2222-DC3C-4442-80CC-AD62EA84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955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650073B-F348-4AD5-B299-842403EC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9431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DB506F7-C83E-4445-9C81-2F541782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9431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0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10D263F-77AF-4BE1-8B83-D407BDFC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621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doctor_notifications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2659E4A-5946-4D49-A0DC-9FC1407E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7AC8B8E-408C-412E-A5B7-0B7FEB06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098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2A3FAC5-19CB-42DC-B86C-08A454DB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2098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6803AD3-47E8-48B0-85A0-8E6E9899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645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E86A77A-E4EF-450D-A258-7FB208CA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3645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ABA6704-72AD-4E33-AE5B-9ED74E33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193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2FC33C3-A8CC-4E11-8338-BAC38268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5193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CD8EA0F-39E9-4CAD-8319-1B2308EA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741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2F19584-86A9-40D4-9FD6-58E1EBC5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6741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2F8386C-AB40-4E63-81BE-26C22368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67100"/>
            <a:ext cx="2486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913339C3-65A3-4C51-9EB1-92B11236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623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3C1B52B-9323-4C15-8C7E-0F80E650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099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F70B9C6-51E1-4755-A2BD-29147F43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099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0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2C2CED5-17A0-412A-8563-4E08F797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doctor_profiles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1FCC6B0-5BB8-4754-B5C8-E6469789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766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C4D65F7-7E95-4586-B353-C4B52593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766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CE4BCB1-AC42-4A2B-9838-F383F7E2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2766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B3823A3-A9BF-4AD8-9447-365C03AA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313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48E40CE-457E-4BE8-9252-666E18CE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4313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F3EFB40-EF16-4F3B-BAAC-7CF2A79D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861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C5F051E-84D3-4BF5-A1F1-AE92DE86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5861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69A8C33-57AE-4B5B-808C-8F552F7F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409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DE0537A-F0CB-40BB-80B6-A214529B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7409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BB40B6E-2CBB-456A-A4E7-2B679F0F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05100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74470CE-89CA-4F7B-86B3-30D15143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90550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Header color shows access scope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E198F5F-E016-49E4-920E-607C2115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9055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rPr>
              <a:t>owner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51E82CC-678B-4B1B-813F-A7C1E471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9055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rPr>
              <a:t>clinic/admin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BD4E0AA-301C-4050-96C2-ECC49037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9055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rPr>
              <a:t>private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B50EF6E-B299-4456-8010-B1A634DD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531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7 feature tables</a:t>
            </a:r>
          </a:p>
        </p:txBody>
      </p:sp>
    </p:spTree>
    <p:extLst>
      <p:ext uri="{BB962C8B-B14F-4D97-AF65-F5344CB8AC3E}">
        <p14:creationId xmlns:p14="http://schemas.microsoft.com/office/powerpoint/2010/main" val="4225064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1FBC4DD-B12A-4423-80A6-F1F022AD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FEATURE DATABASE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427A84-1DDB-45E1-8F27-8644AFB5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3905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Clinic operations and administration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4E14E-8EEB-4C70-A1B6-2F234158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Operational and administrative records support daily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D88B92-BBFA-457E-8EC6-71D29A97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rPr>
              <a:t>Nway's Love Vet Clinic  ·  Database Design  ·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1421C-9D91-4AFD-82E6-4A473083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95300"/>
            <a:ext cx="6572250" cy="582930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56F8C-EEF6-4BF0-A724-9C7853BE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payments: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billing and payment 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26CC1-513E-49B8-BB6F-0DE40829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inventory: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medicine and product stock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C0D096-416F-4E06-A7C4-F28D86D3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staff_profiles: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private staff account details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CFF9F-5E31-455E-9085-64D26753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verification: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administrator review of doctor accounts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FE6A2-B4BA-435C-AA2C-44F5A064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audit_logs: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append-only record of administrative actions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E702B-7BA4-4496-804F-B354493E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52600"/>
            <a:ext cx="1428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C56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FEAEA2-186E-4A60-8CDC-38A4A50F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5260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6"/>
          </a:solidFill>
          <a:ln xmlns:a="http://schemas.openxmlformats.org/drawingml/2006/main" w="14288">
            <a:solidFill>
              <a:srgbClr val="4C56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D4FF60-DC6C-439E-AB60-E0381780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71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staff and admin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5B8702-2544-4BCB-BAC8-152A63BE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19300"/>
            <a:ext cx="209550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BABF2-C662-46CB-B038-54525829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19300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72DE6E-DE97-41CF-B9B1-D65231D9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2019300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12F347-6A24-4EF5-80D5-1B57BF69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83644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role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5AE7B2-3978-42B1-917E-6B50C5DF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2483644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4012C8-9346-4CB5-ADE0-0118369C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47988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65B7FB-E848-4C69-9344-2382EFF6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2947988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1A2C4A-6645-4A69-958B-5EC1BBBB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12331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4B4855-844A-4D8A-AF0C-6ADEE176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3412331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F980A2-B7CE-43BF-8C75-B18FA99C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38450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0B126D-FA7A-4C59-8FF9-AB865D69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333500"/>
            <a:ext cx="0" cy="3200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8E92C5-69DB-4254-8E0B-6B6ABEA6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33350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FE9A12-F0C9-4AFE-93B5-B6E7C702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2287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1A2CEE-0D7D-4F75-BAA3-546D26BE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8763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871D38-A943-47E1-BCA7-FC62A015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8763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F3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D08111-BB5F-40B4-BFD0-73757217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5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payments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5CF11C-5CA3-4405-9C2B-2DFDA8B3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430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394DAA-4F07-4937-B7D3-927BA8F5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1430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0ED3AD-527B-4E34-98D0-29F725ED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1430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F7046B-A916-477C-B369-FFB881D2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2977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9F4057-95A6-4BF9-B113-155AEA3E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2977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18AE97-79AC-4AF4-BACD-E62C6189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4525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477C82-F028-4414-B5D8-2D231905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4525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96ACD8-A998-4CB1-9F75-47AB0A88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073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29DC02-A9AC-4EB7-8E7C-3AAE310D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6073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38D64E-1EE9-479B-8AFA-D3597F43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0030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14A7D3-E169-4B4A-9FD7-C2B2F681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955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6E933A-EB95-495E-A8AD-E1FC9C24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431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B9CFD4-6AC6-4651-A3A5-AEC3C7A2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431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F3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8FEF28-F185-4A6A-89C3-C1DA186A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621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inventory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24F9E1-C952-4400-B1AF-FC748BFA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98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EF1470-98A8-4116-89C5-65535E23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098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7DE713-12AC-4582-989B-F6391A3D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2098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15AFC2-F43A-4F2B-B35A-B8BDCAC2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45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B22E08-0E00-4B50-8153-5362CEB3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3645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9D4EE5-2BE4-465B-81F4-1E8F6A67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193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09355E-DC34-485E-A77D-0A445244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5193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BA15857-FCB8-42A9-851D-A8FA5BC4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741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B87E14-C435-4983-95AB-DE8E4C56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6741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AF7996-8715-4001-B143-073B8EA2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6710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600852-99A7-4FF4-B600-8489DBC3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623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C5785B0-1BAD-40A9-80E1-A0EE97CF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99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E1D8E0F-CB72-4A57-9289-9FDE1AF7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99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0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2C4FCD5-A16B-46D4-A0A7-87C5266D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staff_profiles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613CB5D-D84A-40C6-B0CD-2F3BC3E6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766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0ADF964-C8C1-4662-AB27-06B87C58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766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5E5EDDD-2911-4BAA-8FF4-D030D8FE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2766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E956464-C0C1-40DE-8B1D-05D81737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313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2606E1C-BA11-452F-8CB4-E4D21DFD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4313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B4961DD-8DB0-4544-8C50-BDAB4FB7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861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499784F-3FD2-4B08-91F9-257497A4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5861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F1518F3-8D26-400C-96F3-DCB532EA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409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69526DF-B8B7-4F89-BF48-28694969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7409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DCEFE0F-1BEC-4E6C-8103-ECD4D947C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3390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CEA509D-176F-4D93-AED8-6AAF68EA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291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66ED275-10B5-45CA-B328-E874F889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767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CE87F4B-C028-4434-B527-3F806E9D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767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F3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49145F2-B23A-4290-8540-F8545360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user_directory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37AE66B-5013-4340-976F-A9B6C4AC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434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EA51BA4-2122-4F38-B9C7-C9436A46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434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CC1F787-321D-42D7-BA15-F39794112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434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E6E9FCF-D2EB-4BD4-B5AA-D062C5A7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981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8BED8A9-5A23-48BF-9894-647969BD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4981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829C266-FE52-4EEF-83CC-A1F68EBB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529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BBFADB9-8412-4C04-8EE9-EDECE069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6529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19E155C-BDAB-4A02-83C4-89323016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077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0C88966-B984-4283-8E37-A43F00B0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8077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FD9B714-DD46-475A-918E-2E3DF36C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333500"/>
            <a:ext cx="2486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ACC1CB0-255B-4FC6-90AD-7B9B7250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2287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362E823-F723-4E02-B099-39AB8A27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8763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96CB838-B11D-4E32-BDCE-14157365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8763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F3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A2213D6-048C-474A-8878-6BFEBA47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95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doctor_verifications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FC1D1BF-FD49-4407-AF9B-DAFDCC00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1430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DEAAC32-711B-4352-9D85-8B324CFA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1430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656EA26-813E-4E73-8DD5-28B41D7F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1430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F9B4E49-F179-49D4-AC77-A8D7F2F9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977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1F08485-924A-419A-BB18-3DEE207F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2977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9776D90-029E-4BC5-A521-F9D84C23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4525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2E89EB0-E0BF-4BF8-826E-DA8F8FA3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4525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3087A01-DE2F-4E3C-862A-7473436C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6073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904CBE7-D3CA-4832-8AA6-8EA92299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6073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C3D3681-D2AE-4636-A6DB-98123B77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00300"/>
            <a:ext cx="2486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9DBACC2-79BF-4CAB-9181-0ACA3116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955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6C406BF-7BEA-4658-ACB6-4E074089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9431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34DF50C-D5A9-4C72-95B5-8E5934FE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9431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F3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4612FA0-29B3-49EF-B8E0-D2A00C52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621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audit_logs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9E042BC-6BA8-4CE0-8A8A-6B4895D1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1981706-C089-4E75-A646-CF3B0675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098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D970D38-94FC-4D29-97B8-F21CC85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2098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0E7DA50-495A-4292-9C49-C0980C9E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645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167BB31-C117-4B7E-8098-A9F10641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3645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01DA487-0D7A-43B8-A82F-938CDCA4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193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AE6A91B-7E63-4265-8535-11878AF7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5193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DBCF268-8269-48CE-ADD4-7C14B8E5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6741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CEC969D-E27F-460F-883E-F2B7D55A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6741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81914D4-8954-4358-8D85-1F09E96A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67100"/>
            <a:ext cx="2486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8E42782-937A-4025-974F-DAB8A814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623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EA0357A-5AAA-4365-955D-D0ACF407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099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6E7D9D3-6035-420F-A5DA-031C3445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099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0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E73E7B5-9D5D-47AC-84B1-C1D066CD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admin_profiles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F7CC6CC-B4ED-4BA4-8587-952D0342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766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14EAB3E-9FA9-4B75-B8BF-F31D30B6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766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CE38070-CD9B-4AD8-8F93-F925297E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2766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A4A6846-5181-4E8A-87CE-D644201A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313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D63DA53-3783-40A5-A67B-ABAD0D23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4313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2574FEA-C539-4F96-86A8-789D66BC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861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FD164D7-6A72-4593-B23B-9EA4C275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5861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DE5F45A-6D46-4585-A5FF-D5D50395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409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D00EC46-25E2-4DF2-AF96-2ABBE4E2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7409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8A3DB80-3255-4F72-9D13-53ED5532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05100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55EBE77-A9A1-4331-95B2-7E1A32AD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90550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Header color shows access scope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44D1665-E509-4480-B128-F9181683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9055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rPr>
              <a:t>owner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A5EAD17-9959-40F6-8CE0-50E909D4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9055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rPr>
              <a:t>clinic/admin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2A29567-B402-4FBE-BEF5-C12FF512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9055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rPr>
              <a:t>private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0E60443-8BDC-4EA6-8554-B1619087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531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7 feature tables</a:t>
            </a:r>
          </a:p>
        </p:txBody>
      </p:sp>
    </p:spTree>
    <p:extLst>
      <p:ext uri="{BB962C8B-B14F-4D97-AF65-F5344CB8AC3E}">
        <p14:creationId xmlns:p14="http://schemas.microsoft.com/office/powerpoint/2010/main" val="14057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2026-10-14T14:57:35.0690000Z</dcterms:created>
  <dcterms:modified xsi:type="dcterms:W3CDTF">2026-10-14T14:57:35.0690000Z</dcterms:modified>
</coreProperties>
</file>